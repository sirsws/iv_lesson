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0" r:id="rId1"/>
  </p:sldMasterIdLst>
  <p:notesMasterIdLst>
    <p:notesMasterId r:id="rId62"/>
  </p:notesMasterIdLst>
  <p:sldIdLst>
    <p:sldId id="256" r:id="rId2"/>
    <p:sldId id="257" r:id="rId3"/>
    <p:sldId id="345" r:id="rId4"/>
    <p:sldId id="687" r:id="rId5"/>
    <p:sldId id="668" r:id="rId6"/>
    <p:sldId id="669" r:id="rId7"/>
    <p:sldId id="670" r:id="rId8"/>
    <p:sldId id="704" r:id="rId9"/>
    <p:sldId id="671" r:id="rId10"/>
    <p:sldId id="672" r:id="rId11"/>
    <p:sldId id="673" r:id="rId12"/>
    <p:sldId id="674" r:id="rId13"/>
    <p:sldId id="675" r:id="rId14"/>
    <p:sldId id="676" r:id="rId15"/>
    <p:sldId id="736" r:id="rId16"/>
    <p:sldId id="737" r:id="rId17"/>
    <p:sldId id="731" r:id="rId18"/>
    <p:sldId id="688" r:id="rId19"/>
    <p:sldId id="689" r:id="rId20"/>
    <p:sldId id="732" r:id="rId21"/>
    <p:sldId id="690" r:id="rId22"/>
    <p:sldId id="691" r:id="rId23"/>
    <p:sldId id="705" r:id="rId24"/>
    <p:sldId id="698" r:id="rId25"/>
    <p:sldId id="679" r:id="rId26"/>
    <p:sldId id="680" r:id="rId27"/>
    <p:sldId id="722" r:id="rId28"/>
    <p:sldId id="700" r:id="rId29"/>
    <p:sldId id="701" r:id="rId30"/>
    <p:sldId id="702" r:id="rId31"/>
    <p:sldId id="712" r:id="rId32"/>
    <p:sldId id="703" r:id="rId33"/>
    <p:sldId id="715" r:id="rId34"/>
    <p:sldId id="719" r:id="rId35"/>
    <p:sldId id="713" r:id="rId36"/>
    <p:sldId id="720" r:id="rId37"/>
    <p:sldId id="721" r:id="rId38"/>
    <p:sldId id="677" r:id="rId39"/>
    <p:sldId id="678" r:id="rId40"/>
    <p:sldId id="681" r:id="rId41"/>
    <p:sldId id="682" r:id="rId42"/>
    <p:sldId id="683" r:id="rId43"/>
    <p:sldId id="684" r:id="rId44"/>
    <p:sldId id="685" r:id="rId45"/>
    <p:sldId id="692" r:id="rId46"/>
    <p:sldId id="686" r:id="rId47"/>
    <p:sldId id="693" r:id="rId48"/>
    <p:sldId id="708" r:id="rId49"/>
    <p:sldId id="723" r:id="rId50"/>
    <p:sldId id="724" r:id="rId51"/>
    <p:sldId id="725" r:id="rId52"/>
    <p:sldId id="726" r:id="rId53"/>
    <p:sldId id="727" r:id="rId54"/>
    <p:sldId id="706" r:id="rId55"/>
    <p:sldId id="728" r:id="rId56"/>
    <p:sldId id="729" r:id="rId57"/>
    <p:sldId id="733" r:id="rId58"/>
    <p:sldId id="730" r:id="rId59"/>
    <p:sldId id="735" r:id="rId60"/>
    <p:sldId id="734" r:id="rId6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9"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o Weishi" initials="SW"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E9E9E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8"/>
      </p:cViewPr>
      <p:guideLst>
        <p:guide orient="horz" pos="1139"/>
        <p:guide pos="384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C801F0-0EF5-45BB-A914-31086B81E6CD}" type="datetimeFigureOut">
              <a:rPr lang="zh-CN" altLang="en-US" smtClean="0"/>
              <a:t>2022-02-25</a:t>
            </a:fld>
            <a:endParaRPr lang="zh-CN"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D946D3-1B9F-4CD8-9BEB-C84D830924C0}" type="slidenum">
              <a:rPr lang="zh-CN" altLang="en-US" smtClean="0"/>
              <a:t>‹#›</a:t>
            </a:fld>
            <a:endParaRPr lang="zh-CN" altLang="en-US"/>
          </a:p>
        </p:txBody>
      </p:sp>
    </p:spTree>
    <p:extLst>
      <p:ext uri="{BB962C8B-B14F-4D97-AF65-F5344CB8AC3E}">
        <p14:creationId xmlns:p14="http://schemas.microsoft.com/office/powerpoint/2010/main" val="3129966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hasCustomPrompt="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hasCustomPrompt="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hasCustomPrompt="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hasCustomPrompt="1"/>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hasCustomPrompt="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p:cNvSpPr>
            <a:spLocks noGrp="1"/>
          </p:cNvSpPr>
          <p:nvPr>
            <p:ph sz="half" idx="2" hasCustomPrompt="1"/>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hasCustomPrompt="1"/>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p:cNvSpPr>
            <a:spLocks noGrp="1"/>
          </p:cNvSpPr>
          <p:nvPr>
            <p:ph sz="quarter" idx="4" hasCustomPrompt="1"/>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hasCustomPrompt="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hasCustomPrompt="1"/>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hasCustomPrompt="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hasCustomPrompt="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B0136D52-5100-4D3E-A318-69490C5EABBE}" type="datetimeFigureOut">
              <a:rPr lang="zh-CN" altLang="en-US" smtClean="0"/>
              <a:t>2022-02-25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DD2264C-C029-48DC-B228-64A2ACDE330F}"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36D52-5100-4D3E-A318-69490C5EABBE}" type="datetimeFigureOut">
              <a:rPr lang="zh-CN" altLang="en-US" smtClean="0"/>
              <a:t>2022-02-25</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DD2264C-C029-48DC-B228-64A2ACDE330F}"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finance.ce.cn/rolling/201601/25/t20160125_8547622.shtm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valuershao.com/cbweek" TargetMode="External"/><Relationship Id="rId2" Type="http://schemas.openxmlformats.org/officeDocument/2006/relationships/hyperlink" Target="https://valuershao.com/fsa" TargetMode="External"/><Relationship Id="rId1" Type="http://schemas.openxmlformats.org/officeDocument/2006/relationships/slideLayout" Target="../slideLayouts/slideLayout2.xml"/><Relationship Id="rId4" Type="http://schemas.openxmlformats.org/officeDocument/2006/relationships/hyperlink" Target="https://valuershao.com/marketa"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fangjia.fang.com/bj/pinggu?forward=%E5%8D%97%E5%8C%97&amp;buildareatxt=70.36&amp;totalfloortxt=5&amp;strcityfast=%E5%8C%97%E4%BA%AC&amp;projname=%E5%92%8C%E5%B9%B3%E8%A1%97%E5%8D%81%E4%B8%89%E5%8C%BA&amp;housetypes=%E4%BD%8F%E5%AE%85&amp;newcode=1010564065&amp;fromtype=pc&amp;room=3&amp;hall=1&amp;buildingtype=&amp;fitment=%E7%AE%80%E8%A3%85%E4%BF%AE#2" TargetMode="External"/><Relationship Id="rId2" Type="http://schemas.openxmlformats.org/officeDocument/2006/relationships/hyperlink" Target="http://www.iwencai.com/unifiedwap/result?w=%E5%8D%9A%E8%85%BE%E8%82%A1%E4%BB%BD%20%E4%BC%B0%E5%80%BC&amp;querytype=stock" TargetMode="External"/><Relationship Id="rId1" Type="http://schemas.openxmlformats.org/officeDocument/2006/relationships/slideLayout" Target="../slideLayouts/slideLayout2.xml"/><Relationship Id="rId5" Type="http://schemas.openxmlformats.org/officeDocument/2006/relationships/hyperlink" Target="https://carprice.58.com/?PGTID=0d60001d-0000-07d5-5424-f12c8bc4f308&amp;ClickID=1" TargetMode="External"/><Relationship Id="rId4" Type="http://schemas.openxmlformats.org/officeDocument/2006/relationships/hyperlink" Target="http://s.manmanbuy.com/Default.aspx?key=%D0%A1%C3%D7%C6%BD%BA%E2%B3%B5&amp;btnSearch=%CB%D1%CB%F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hyperlink" Target="https://baike.baidu.com/item/%E9%9D%A2%E5%90%91%E5%AF%B9%E8%B1%A1/2262089" TargetMode="External"/><Relationship Id="rId3" Type="http://schemas.openxmlformats.org/officeDocument/2006/relationships/hyperlink" Target="https://baike.baidu.com/item/%E6%95%B0%E5%AD%A6/107037" TargetMode="External"/><Relationship Id="rId7" Type="http://schemas.openxmlformats.org/officeDocument/2006/relationships/hyperlink" Target="https://baike.baidu.com/item/%E6%95%B0%E6%8D%AE%E7%BB%93%E6%9E%84/1450" TargetMode="External"/><Relationship Id="rId2" Type="http://schemas.openxmlformats.org/officeDocument/2006/relationships/hyperlink" Target="https://baike.baidu.com/item/%E8%8D%B7%E5%85%B0/190469" TargetMode="External"/><Relationship Id="rId1" Type="http://schemas.openxmlformats.org/officeDocument/2006/relationships/slideLayout" Target="../slideLayouts/slideLayout2.xml"/><Relationship Id="rId6" Type="http://schemas.openxmlformats.org/officeDocument/2006/relationships/hyperlink" Target="https://baike.baidu.com/item/ABC%E8%AF%AD%E8%A8%80/334996" TargetMode="External"/><Relationship Id="rId5" Type="http://schemas.openxmlformats.org/officeDocument/2006/relationships/hyperlink" Target="https://baike.baidu.com/item/%E5%90%89%E5%A4%9A%C2%B7%E8%8C%83%E7%BD%97%E8%8B%8F%E5%A7%86/328361" TargetMode="External"/><Relationship Id="rId4" Type="http://schemas.openxmlformats.org/officeDocument/2006/relationships/hyperlink" Target="https://baike.baidu.com/item/%E8%AE%A1%E7%AE%97%E6%9C%BA%E7%A7%91%E5%AD%A6/9132" TargetMode="External"/><Relationship Id="rId9" Type="http://schemas.openxmlformats.org/officeDocument/2006/relationships/hyperlink" Target="https://baike.baidu.com/item/%E8%A7%A3%E9%87%8A%E5%9E%8B%E8%AF%AD%E8%A8%80/8888952" TargetMode="Externa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xkcd.com/353/"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www.py4e.com/" TargetMode="External"/><Relationship Id="rId2" Type="http://schemas.openxmlformats.org/officeDocument/2006/relationships/hyperlink" Target="https://docs.python.org/3/" TargetMode="External"/><Relationship Id="rId1" Type="http://schemas.openxmlformats.org/officeDocument/2006/relationships/slideLayout" Target="../slideLayouts/slideLayout2.xml"/><Relationship Id="rId5" Type="http://schemas.openxmlformats.org/officeDocument/2006/relationships/hyperlink" Target="https://www.w3school.com.cn/python/index.asp" TargetMode="External"/><Relationship Id="rId4" Type="http://schemas.openxmlformats.org/officeDocument/2006/relationships/hyperlink" Target="https://www.liaoxuefeng.com/wiki/1016959663602400"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hyperlink" Target="https://www.tushare.pro/"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hyperlink" Target="https://github.com/shazow/urllib3"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www.selenium.dev/"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hyperlink" Target="https://ai.baidu.com/" TargetMode="Externa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console.bce.baidu.com/ai/?_=1634647029968&amp;fromai=1#/ai/ocr/overview/index"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console.bce.baidu.com/ai/?_=1634647029968&amp;fromai=1#/ai/ocr/overview/index" TargetMode="Externa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p:cNvSpPr>
            <a:spLocks noGrp="1"/>
          </p:cNvSpPr>
          <p:nvPr>
            <p:ph type="ctrTitle"/>
          </p:nvPr>
        </p:nvSpPr>
        <p:spPr>
          <a:xfrm>
            <a:off x="1400961" y="1122362"/>
            <a:ext cx="9390077" cy="1134454"/>
          </a:xfrm>
        </p:spPr>
        <p:txBody>
          <a:bodyPr anchor="ctr"/>
          <a:lstStyle/>
          <a:p>
            <a:pPr>
              <a:lnSpc>
                <a:spcPct val="100000"/>
              </a:lnSpc>
              <a:spcBef>
                <a:spcPts val="600"/>
              </a:spcBef>
              <a:spcAft>
                <a:spcPts val="600"/>
              </a:spcAft>
            </a:pPr>
            <a:r>
              <a:rPr lang="zh-CN" altLang="en-US" dirty="0"/>
              <a:t>智能估值专题</a:t>
            </a:r>
          </a:p>
        </p:txBody>
      </p:sp>
      <p:sp>
        <p:nvSpPr>
          <p:cNvPr id="3" name="副标题 2"/>
          <p:cNvSpPr>
            <a:spLocks noGrp="1"/>
          </p:cNvSpPr>
          <p:nvPr>
            <p:ph type="subTitle" idx="1"/>
          </p:nvPr>
        </p:nvSpPr>
        <p:spPr>
          <a:xfrm>
            <a:off x="1523999" y="3429000"/>
            <a:ext cx="9144000" cy="1882302"/>
          </a:xfrm>
        </p:spPr>
        <p:txBody>
          <a:bodyPr anchor="ctr">
            <a:noAutofit/>
          </a:bodyPr>
          <a:lstStyle/>
          <a:p>
            <a:pPr>
              <a:lnSpc>
                <a:spcPct val="100000"/>
              </a:lnSpc>
              <a:spcBef>
                <a:spcPts val="600"/>
              </a:spcBef>
              <a:spcAft>
                <a:spcPts val="600"/>
              </a:spcAft>
            </a:pPr>
            <a:r>
              <a:rPr lang="zh-CN" altLang="en-US" sz="3200" dirty="0">
                <a:latin typeface="华文楷体" panose="02010600040101010101" pitchFamily="2" charset="-122"/>
                <a:ea typeface="华文楷体" panose="02010600040101010101" pitchFamily="2" charset="-122"/>
              </a:rPr>
              <a:t>主讲人：邵唯实</a:t>
            </a:r>
            <a:endParaRPr lang="en-US" altLang="zh-CN" sz="32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32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r>
              <a:rPr lang="zh-CN" altLang="en-US" sz="3200" dirty="0">
                <a:latin typeface="华文楷体" panose="02010600040101010101" pitchFamily="2" charset="-122"/>
                <a:ea typeface="华文楷体" panose="02010600040101010101" pitchFamily="2" charset="-122"/>
              </a:rPr>
              <a:t>   北京路浩资产评估有限公司</a:t>
            </a:r>
          </a:p>
        </p:txBody>
      </p:sp>
      <p:pic>
        <p:nvPicPr>
          <p:cNvPr id="4" name="图片 3"/>
          <p:cNvPicPr>
            <a:picLocks noChangeAspect="1"/>
          </p:cNvPicPr>
          <p:nvPr/>
        </p:nvPicPr>
        <p:blipFill>
          <a:blip r:embed="rId2"/>
          <a:stretch>
            <a:fillRect/>
          </a:stretch>
        </p:blipFill>
        <p:spPr>
          <a:xfrm>
            <a:off x="3124821" y="4743264"/>
            <a:ext cx="662997" cy="4648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algn="ctr"/>
            <a:r>
              <a:rPr lang="zh-CN" altLang="en-US" dirty="0">
                <a:latin typeface="华文楷体" panose="02010600040101010101" pitchFamily="2" charset="-122"/>
                <a:ea typeface="华文楷体" panose="02010600040101010101" pitchFamily="2" charset="-122"/>
              </a:rPr>
              <a:t>主讲人介绍</a:t>
            </a:r>
          </a:p>
        </p:txBody>
      </p:sp>
      <p:sp>
        <p:nvSpPr>
          <p:cNvPr id="3" name="内容占位符 2"/>
          <p:cNvSpPr>
            <a:spLocks noGrp="1"/>
          </p:cNvSpPr>
          <p:nvPr>
            <p:ph idx="1"/>
          </p:nvPr>
        </p:nvSpPr>
        <p:spPr>
          <a:xfrm>
            <a:off x="838200" y="1825625"/>
            <a:ext cx="10515600" cy="4667250"/>
          </a:xfrm>
        </p:spPr>
        <p:txBody>
          <a:bodyPr>
            <a:noAutofit/>
          </a:bodyPr>
          <a:lstStyle/>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邵唯实，民盟盟员，北京路浩资产评估有限公司副总经理，北京中税德庆会计师事务所、税务师事务所合伙人，朝阳区青联委员，金融学硕士，资产评估师，高级会计师，澳大利亚注册会计师，国际企业价值分析师，中国并购交易师，经济师，具有证券从业资格。中国资产评估协会外事联络员，中国资产评估协会与英国</a:t>
            </a:r>
            <a:r>
              <a:rPr lang="en-US" altLang="zh-CN" sz="2400" dirty="0">
                <a:latin typeface="华文楷体" panose="02010600040101010101" pitchFamily="2" charset="-122"/>
                <a:ea typeface="华文楷体" panose="02010600040101010101" pitchFamily="2" charset="-122"/>
              </a:rPr>
              <a:t>RICS</a:t>
            </a:r>
            <a:r>
              <a:rPr lang="zh-CN" altLang="en-US" sz="2400" dirty="0">
                <a:latin typeface="华文楷体" panose="02010600040101010101" pitchFamily="2" charset="-122"/>
                <a:ea typeface="华文楷体" panose="02010600040101010101" pitchFamily="2" charset="-122"/>
              </a:rPr>
              <a:t>准则互认小组成员，北京注册会计师协会领军人才、审计智能化方向人才、代表，作为主要翻译人员参与出版中评协课题译作</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国际评估准则</a:t>
            </a:r>
            <a:r>
              <a:rPr lang="en-US" altLang="zh-CN" sz="2400" dirty="0">
                <a:latin typeface="华文楷体" panose="02010600040101010101" pitchFamily="2" charset="-122"/>
                <a:ea typeface="华文楷体" panose="02010600040101010101" pitchFamily="2" charset="-122"/>
              </a:rPr>
              <a:t>2022》</a:t>
            </a:r>
            <a:r>
              <a:rPr lang="zh-CN" altLang="en-US" sz="2400" dirty="0">
                <a:latin typeface="华文楷体" panose="02010600040101010101" pitchFamily="2" charset="-122"/>
                <a:ea typeface="华文楷体" panose="02010600040101010101" pitchFamily="2" charset="-122"/>
              </a:rPr>
              <a:t>、</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资本成本</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应用和案例</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a:t>
            </a:r>
            <a:r>
              <a:rPr lang="en-US" altLang="zh-CN" sz="2400" dirty="0">
                <a:latin typeface="华文楷体" panose="02010600040101010101" pitchFamily="2" charset="-122"/>
                <a:ea typeface="华文楷体" panose="02010600040101010101" pitchFamily="2" charset="-122"/>
              </a:rPr>
              <a:t> 《</a:t>
            </a:r>
            <a:r>
              <a:rPr lang="zh-CN" altLang="en-US" sz="2400" dirty="0">
                <a:latin typeface="华文楷体" panose="02010600040101010101" pitchFamily="2" charset="-122"/>
                <a:ea typeface="华文楷体" panose="02010600040101010101" pitchFamily="2" charset="-122"/>
              </a:rPr>
              <a:t>国际评估准则</a:t>
            </a:r>
            <a:r>
              <a:rPr lang="en-US" altLang="zh-CN" sz="2400" dirty="0">
                <a:latin typeface="华文楷体" panose="02010600040101010101" pitchFamily="2" charset="-122"/>
                <a:ea typeface="华文楷体" panose="02010600040101010101" pitchFamily="2" charset="-122"/>
              </a:rPr>
              <a:t>2017》</a:t>
            </a:r>
            <a:r>
              <a:rPr lang="zh-CN" altLang="en-US" sz="2400" dirty="0">
                <a:latin typeface="华文楷体" panose="02010600040101010101" pitchFamily="2" charset="-122"/>
                <a:ea typeface="华文楷体" panose="02010600040101010101" pitchFamily="2" charset="-122"/>
              </a:rPr>
              <a:t>，拥有软件著作权</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一种上市公司财务分析系统</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，申请中软件著作权</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一种上市公司市场比较估价系统</a:t>
            </a:r>
            <a:r>
              <a:rPr lang="en-US" altLang="zh-CN" sz="2400" dirty="0">
                <a:latin typeface="华文楷体" panose="02010600040101010101" pitchFamily="2" charset="-122"/>
                <a:ea typeface="华文楷体" panose="02010600040101010101" pitchFamily="2" charset="-122"/>
              </a:rPr>
              <a:t>》 </a:t>
            </a:r>
            <a:r>
              <a:rPr lang="zh-CN" altLang="en-US" sz="2400" dirty="0">
                <a:latin typeface="华文楷体" panose="02010600040101010101" pitchFamily="2" charset="-122"/>
                <a:ea typeface="华文楷体" panose="02010600040101010101" pitchFamily="2" charset="-122"/>
              </a:rPr>
              <a:t>。</a:t>
            </a:r>
            <a:endParaRPr lang="en-US" altLang="zh-CN" sz="2400" dirty="0">
              <a:latin typeface="华文楷体" panose="02010600040101010101" pitchFamily="2" charset="-122"/>
              <a:ea typeface="华文楷体" panose="02010600040101010101" pitchFamily="2" charset="-122"/>
            </a:endParaRPr>
          </a:p>
          <a:p>
            <a:endParaRPr lang="en-US" altLang="zh-CN" sz="1800" dirty="0">
              <a:latin typeface="华文楷体" panose="02010600040101010101" pitchFamily="2" charset="-122"/>
              <a:ea typeface="华文楷体" panose="02010600040101010101" pitchFamily="2" charset="-122"/>
            </a:endParaRPr>
          </a:p>
          <a:p>
            <a:r>
              <a:rPr lang="zh-CN" altLang="en-US" sz="2400" dirty="0">
                <a:latin typeface="华文楷体" panose="02010600040101010101" pitchFamily="2" charset="-122"/>
                <a:ea typeface="华文楷体" panose="02010600040101010101" pitchFamily="2" charset="-122"/>
              </a:rPr>
              <a:t>邮箱：</a:t>
            </a:r>
            <a:r>
              <a:rPr lang="en-US" altLang="zh-CN" sz="2400" dirty="0">
                <a:latin typeface="华文楷体" panose="02010600040101010101" pitchFamily="2" charset="-122"/>
                <a:ea typeface="华文楷体" panose="02010600040101010101" pitchFamily="2" charset="-122"/>
              </a:rPr>
              <a:t>sirsws@163.com</a:t>
            </a:r>
            <a:endParaRPr lang="zh-CN" altLang="en-US" sz="2400" dirty="0">
              <a:latin typeface="华文楷体" panose="02010600040101010101" pitchFamily="2" charset="-122"/>
              <a:ea typeface="华文楷体" panose="02010600040101010101" pitchFamily="2" charset="-122"/>
            </a:endParaRPr>
          </a:p>
          <a:p>
            <a:endParaRPr lang="zh-CN" altLang="en-US" sz="1800" dirty="0">
              <a:latin typeface="华文楷体" panose="02010600040101010101" pitchFamily="2" charset="-122"/>
              <a:ea typeface="华文楷体" panose="02010600040101010101" pitchFamily="2"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pPr algn="ctr"/>
            <a:r>
              <a:rPr lang="zh-CN" altLang="en-US" dirty="0">
                <a:latin typeface="华文楷体" panose="02010600040101010101" pitchFamily="2" charset="-122"/>
                <a:ea typeface="华文楷体" panose="02010600040101010101" pitchFamily="2" charset="-122"/>
              </a:rPr>
              <a:t>课程安排</a:t>
            </a:r>
            <a:r>
              <a:rPr lang="en-US" altLang="zh-CN" dirty="0">
                <a:latin typeface="华文楷体" panose="02010600040101010101" pitchFamily="2" charset="-122"/>
                <a:ea typeface="华文楷体" panose="02010600040101010101" pitchFamily="2" charset="-122"/>
              </a:rPr>
              <a:t>	</a:t>
            </a:r>
            <a:endParaRPr lang="zh-CN" altLang="en-US" dirty="0">
              <a:latin typeface="华文楷体" panose="02010600040101010101" pitchFamily="2" charset="-122"/>
              <a:ea typeface="华文楷体" panose="02010600040101010101" pitchFamily="2" charset="-122"/>
            </a:endParaRPr>
          </a:p>
        </p:txBody>
      </p:sp>
      <p:sp>
        <p:nvSpPr>
          <p:cNvPr id="3" name="内容占位符 2"/>
          <p:cNvSpPr>
            <a:spLocks noGrp="1"/>
          </p:cNvSpPr>
          <p:nvPr>
            <p:ph idx="1"/>
          </p:nvPr>
        </p:nvSpPr>
        <p:spPr>
          <a:xfrm>
            <a:off x="838200" y="1825625"/>
            <a:ext cx="10515600" cy="4667250"/>
          </a:xfrm>
        </p:spPr>
        <p:txBody>
          <a:bodyPr anchor="t">
            <a:noAutofit/>
          </a:bodyPr>
          <a:lstStyle/>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我与智能估值</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智能估值概述</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智能估值概述</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取数部分</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智能估值概述</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分析计算部分</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智能估值概述</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输出部分</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启发：</a:t>
            </a:r>
            <a:r>
              <a:rPr lang="en-US" altLang="zh-CN" sz="2400" dirty="0">
                <a:latin typeface="华文楷体" panose="02010600040101010101" pitchFamily="2" charset="-122"/>
                <a:ea typeface="华文楷体" panose="02010600040101010101" pitchFamily="2" charset="-122"/>
              </a:rPr>
              <a:t>2011</a:t>
            </a:r>
            <a:r>
              <a:rPr lang="zh-CN" altLang="en-US" sz="2400" dirty="0">
                <a:latin typeface="华文楷体" panose="02010600040101010101" pitchFamily="2" charset="-122"/>
                <a:ea typeface="华文楷体" panose="02010600040101010101" pitchFamily="2" charset="-122"/>
              </a:rPr>
              <a:t>年中国资产评估论坛听韩国产权研究院院长介绍韩国知识产权智能估值经验</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3760048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我的传统评估领域智能估值探索：</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1</a:t>
            </a:r>
            <a:r>
              <a:rPr lang="zh-CN" altLang="en-US" sz="2400" dirty="0">
                <a:latin typeface="华文楷体" panose="02010600040101010101" pitchFamily="2" charset="-122"/>
                <a:ea typeface="华文楷体" panose="02010600040101010101" pitchFamily="2" charset="-122"/>
              </a:rPr>
              <a:t>、不断进化的估值计算表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2</a:t>
            </a:r>
            <a:r>
              <a:rPr lang="zh-CN" altLang="en-US" sz="2400" dirty="0">
                <a:latin typeface="华文楷体" panose="02010600040101010101" pitchFamily="2" charset="-122"/>
                <a:ea typeface="华文楷体" panose="02010600040101010101" pitchFamily="2" charset="-122"/>
              </a:rPr>
              <a:t>、长期关注并与中企华评估公司、中和评估公司相关人员多次交流智能估值在资产评估领域实现方式</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主要为内控流程智能，设备评估智能库</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3</a:t>
            </a:r>
            <a:r>
              <a:rPr lang="zh-CN" altLang="en-US" sz="2400" dirty="0">
                <a:latin typeface="华文楷体" panose="02010600040101010101" pitchFamily="2" charset="-122"/>
                <a:ea typeface="华文楷体" panose="02010600040101010101" pitchFamily="2" charset="-122"/>
              </a:rPr>
              <a:t>、参与财政局智能审计人才委培计划，拓展思考</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关于财务行业何时被人工智能取代的讨论</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42449988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我的投资估值领域智能估值探索：</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1</a:t>
            </a:r>
            <a:r>
              <a:rPr lang="zh-CN" altLang="en-US" sz="2400" dirty="0">
                <a:latin typeface="华文楷体" panose="02010600040101010101" pitchFamily="2" charset="-122"/>
                <a:ea typeface="华文楷体" panose="02010600040101010101" pitchFamily="2" charset="-122"/>
              </a:rPr>
              <a:t>、多年的股市投资经验，广泛阅读相关方面书籍</a:t>
            </a:r>
            <a:endParaRPr lang="en-US" altLang="zh-CN" sz="2400" dirty="0">
              <a:latin typeface="华文楷体" panose="02010600040101010101" pitchFamily="2" charset="-122"/>
              <a:ea typeface="华文楷体" panose="02010600040101010101" pitchFamily="2" charset="-122"/>
            </a:endParaRPr>
          </a:p>
          <a:p>
            <a:pPr marL="0" indent="0" algn="l">
              <a:buNone/>
            </a:pPr>
            <a:r>
              <a:rPr lang="zh-CN" altLang="en-US" sz="1800" dirty="0">
                <a:solidFill>
                  <a:srgbClr val="333333"/>
                </a:solidFill>
                <a:latin typeface="楷体" panose="02010609060101010101" pitchFamily="49" charset="-122"/>
                <a:ea typeface="楷体" panose="02010609060101010101" pitchFamily="49" charset="-122"/>
              </a:rPr>
              <a:t>格雷厄姆认为，公司的内在价值是由公司的资产、收入、利润以及任何未来预期收益等因素决定，其中最重要的因素是公司未来的获利能力。因为这些因素都是可以量化的，因此，一个公司的内在价值可用一个模型加以计量，即用公司的未来预期收益乘以一个适当的资本化因子来估算。这个资本化因子受公司利润的稳定性、资产、股利政策以及财务状况稳定性等因素的影响。</a:t>
            </a:r>
          </a:p>
          <a:p>
            <a:pPr marL="0" indent="0" algn="l">
              <a:buNone/>
            </a:pPr>
            <a:r>
              <a:rPr lang="zh-CN" altLang="en-US" sz="1800" dirty="0">
                <a:solidFill>
                  <a:srgbClr val="333333"/>
                </a:solidFill>
                <a:latin typeface="楷体" panose="02010609060101010101" pitchFamily="49" charset="-122"/>
                <a:ea typeface="楷体" panose="02010609060101010101" pitchFamily="49" charset="-122"/>
              </a:rPr>
              <a:t>巴菲特在多次场合提到了，决定公司内在价值评估的唯一合理的方法就是未来能够产生的现金流量的折现值。</a:t>
            </a:r>
          </a:p>
          <a:p>
            <a:pPr marL="0" indent="0" algn="l">
              <a:buNone/>
            </a:pPr>
            <a:r>
              <a:rPr lang="zh-CN" altLang="en-US" sz="1800" dirty="0">
                <a:solidFill>
                  <a:srgbClr val="333333"/>
                </a:solidFill>
                <a:latin typeface="楷体" panose="02010609060101010101" pitchFamily="49" charset="-122"/>
                <a:ea typeface="楷体" panose="02010609060101010101" pitchFamily="49" charset="-122"/>
              </a:rPr>
              <a:t>林奇的估值方法：市盈率为主，综合估值。</a:t>
            </a:r>
          </a:p>
          <a:p>
            <a:pPr marL="0" indent="0" algn="l">
              <a:buNone/>
            </a:pPr>
            <a:r>
              <a:rPr lang="en-US" altLang="zh-CN" sz="1800" dirty="0">
                <a:solidFill>
                  <a:srgbClr val="333333"/>
                </a:solidFill>
                <a:latin typeface="楷体" panose="02010609060101010101" pitchFamily="49" charset="-122"/>
                <a:ea typeface="楷体" panose="02010609060101010101" pitchFamily="49" charset="-122"/>
              </a:rPr>
              <a:t>k</a:t>
            </a:r>
            <a:r>
              <a:rPr lang="zh-CN" altLang="en-US" sz="1800" dirty="0">
                <a:solidFill>
                  <a:srgbClr val="333333"/>
                </a:solidFill>
                <a:latin typeface="楷体" panose="02010609060101010101" pitchFamily="49" charset="-122"/>
                <a:ea typeface="楷体" panose="02010609060101010101" pitchFamily="49" charset="-122"/>
              </a:rPr>
              <a:t>线中的均线理论和缠论中缠师的中枢概念也是判断合理价格的方法。两者都是用数学和统计学的方法测定多空双方长期角力的波动中心作为合理的价格点并围绕其进行买入卖出操作</a:t>
            </a: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6981518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marL="0" indent="0">
              <a:buNone/>
            </a:pPr>
            <a:br>
              <a:rPr lang="zh-CN" altLang="en-US" sz="1600" dirty="0"/>
            </a:br>
            <a:r>
              <a:rPr lang="en-US" altLang="zh-CN" sz="2400" dirty="0">
                <a:latin typeface="华文楷体" panose="02010600040101010101" pitchFamily="2" charset="-122"/>
                <a:ea typeface="华文楷体" panose="02010600040101010101" pitchFamily="2" charset="-122"/>
              </a:rPr>
              <a:t>2</a:t>
            </a:r>
            <a:r>
              <a:rPr lang="zh-CN" altLang="en-US" sz="2400" dirty="0">
                <a:latin typeface="华文楷体" panose="02010600040101010101" pitchFamily="2" charset="-122"/>
                <a:ea typeface="华文楷体" panose="02010600040101010101" pitchFamily="2" charset="-122"/>
              </a:rPr>
              <a:t>、参与一些</a:t>
            </a:r>
            <a:r>
              <a:rPr lang="en-US" altLang="zh-CN" sz="2400" dirty="0">
                <a:latin typeface="华文楷体" panose="02010600040101010101" pitchFamily="2" charset="-122"/>
                <a:ea typeface="华文楷体" panose="02010600040101010101" pitchFamily="2" charset="-122"/>
              </a:rPr>
              <a:t>IPO</a:t>
            </a:r>
            <a:r>
              <a:rPr lang="zh-CN" altLang="en-US" sz="2400" dirty="0">
                <a:latin typeface="华文楷体" panose="02010600040101010101" pitchFamily="2" charset="-122"/>
                <a:ea typeface="华文楷体" panose="02010600040101010101" pitchFamily="2" charset="-122"/>
              </a:rPr>
              <a:t>上市评估及朋友上市公司的并购前估值咨询设计</a:t>
            </a:r>
            <a:endParaRPr lang="en-US" altLang="zh-CN" sz="2400" dirty="0">
              <a:latin typeface="华文楷体" panose="02010600040101010101" pitchFamily="2" charset="-122"/>
              <a:ea typeface="华文楷体" panose="02010600040101010101" pitchFamily="2" charset="-122"/>
            </a:endParaRPr>
          </a:p>
          <a:p>
            <a:pPr marL="0" indent="0">
              <a:buNone/>
            </a:pPr>
            <a:r>
              <a:rPr lang="zh-CN" altLang="en-US" sz="2400" dirty="0">
                <a:latin typeface="华文楷体" panose="02010600040101010101" pitchFamily="2" charset="-122"/>
                <a:ea typeface="华文楷体" panose="02010600040101010101" pitchFamily="2" charset="-122"/>
              </a:rPr>
              <a:t>搜房网</a:t>
            </a:r>
            <a:endParaRPr lang="en-US" altLang="zh-CN" sz="2400" dirty="0">
              <a:latin typeface="华文楷体" panose="02010600040101010101" pitchFamily="2" charset="-122"/>
              <a:ea typeface="华文楷体" panose="02010600040101010101" pitchFamily="2" charset="-122"/>
            </a:endParaRPr>
          </a:p>
          <a:p>
            <a:pPr marL="0" indent="0">
              <a:buNone/>
            </a:pPr>
            <a:r>
              <a:rPr lang="en-US" altLang="zh-CN" sz="2400" dirty="0">
                <a:latin typeface="华文楷体" panose="02010600040101010101" pitchFamily="2" charset="-122"/>
                <a:ea typeface="华文楷体" panose="02010600040101010101" pitchFamily="2" charset="-122"/>
                <a:hlinkClick r:id="rId2"/>
              </a:rPr>
              <a:t>http://finance.ce.cn/rolling/201601/25/t20160125_8547622.shtml</a:t>
            </a:r>
            <a:endParaRPr lang="en-US" altLang="zh-CN" sz="2400" dirty="0">
              <a:latin typeface="华文楷体" panose="02010600040101010101" pitchFamily="2" charset="-122"/>
              <a:ea typeface="华文楷体" panose="02010600040101010101" pitchFamily="2" charset="-122"/>
            </a:endParaRPr>
          </a:p>
          <a:p>
            <a:pPr marL="0" indent="0">
              <a:buNone/>
            </a:pPr>
            <a:r>
              <a:rPr lang="en-US" altLang="zh-CN" sz="2400" dirty="0">
                <a:latin typeface="华文楷体" panose="02010600040101010101" pitchFamily="2" charset="-122"/>
                <a:ea typeface="华文楷体" panose="02010600040101010101" pitchFamily="2" charset="-122"/>
              </a:rPr>
              <a:t>3.2</a:t>
            </a:r>
            <a:r>
              <a:rPr lang="zh-CN" altLang="en-US" sz="2400" dirty="0">
                <a:latin typeface="华文楷体" panose="02010600040101010101" pitchFamily="2" charset="-122"/>
                <a:ea typeface="华文楷体" panose="02010600040101010101" pitchFamily="2" charset="-122"/>
              </a:rPr>
              <a:t>亿净资产，</a:t>
            </a:r>
            <a:r>
              <a:rPr lang="en-US" altLang="zh-CN" sz="2400" dirty="0">
                <a:latin typeface="华文楷体" panose="02010600040101010101" pitchFamily="2" charset="-122"/>
                <a:ea typeface="华文楷体" panose="02010600040101010101" pitchFamily="2" charset="-122"/>
              </a:rPr>
              <a:t>8</a:t>
            </a:r>
            <a:r>
              <a:rPr lang="zh-CN" altLang="en-US" sz="2400" dirty="0">
                <a:latin typeface="华文楷体" panose="02010600040101010101" pitchFamily="2" charset="-122"/>
                <a:ea typeface="华文楷体" panose="02010600040101010101" pitchFamily="2" charset="-122"/>
              </a:rPr>
              <a:t>亿净利润，</a:t>
            </a:r>
            <a:r>
              <a:rPr lang="en-US" altLang="zh-CN" sz="2400" dirty="0">
                <a:latin typeface="华文楷体" panose="02010600040101010101" pitchFamily="2" charset="-122"/>
                <a:ea typeface="华文楷体" panose="02010600040101010101" pitchFamily="2" charset="-122"/>
              </a:rPr>
              <a:t>161</a:t>
            </a:r>
            <a:r>
              <a:rPr lang="zh-CN" altLang="en-US" sz="2400" dirty="0">
                <a:latin typeface="华文楷体" panose="02010600040101010101" pitchFamily="2" charset="-122"/>
                <a:ea typeface="华文楷体" panose="02010600040101010101" pitchFamily="2" charset="-122"/>
              </a:rPr>
              <a:t>亿估值</a:t>
            </a:r>
            <a:endParaRPr lang="en-US" altLang="zh-CN" sz="2400" dirty="0">
              <a:latin typeface="华文楷体" panose="02010600040101010101" pitchFamily="2" charset="-122"/>
              <a:ea typeface="华文楷体" panose="02010600040101010101" pitchFamily="2" charset="-122"/>
            </a:endParaRPr>
          </a:p>
          <a:p>
            <a:pPr marL="0" indent="0">
              <a:buNone/>
            </a:pPr>
            <a:r>
              <a:rPr lang="zh-CN" altLang="en-US" sz="2400" dirty="0">
                <a:latin typeface="华文楷体" panose="02010600040101010101" pitchFamily="2" charset="-122"/>
                <a:ea typeface="华文楷体" panose="02010600040101010101" pitchFamily="2" charset="-122"/>
              </a:rPr>
              <a:t>紫光股份</a:t>
            </a:r>
            <a:endParaRPr lang="en-US" altLang="zh-CN" sz="2400" dirty="0">
              <a:latin typeface="华文楷体" panose="02010600040101010101" pitchFamily="2" charset="-122"/>
              <a:ea typeface="华文楷体" panose="02010600040101010101" pitchFamily="2" charset="-122"/>
            </a:endParaRPr>
          </a:p>
          <a:p>
            <a:pPr marL="0" indent="0">
              <a:buNone/>
            </a:pPr>
            <a:r>
              <a:rPr lang="zh-CN" altLang="en-US" sz="2400" dirty="0">
                <a:latin typeface="华文楷体" panose="02010600040101010101" pitchFamily="2" charset="-122"/>
                <a:ea typeface="华文楷体" panose="02010600040101010101" pitchFamily="2" charset="-122"/>
              </a:rPr>
              <a:t>关于简式估值的咨询</a:t>
            </a:r>
            <a:endParaRPr lang="en-US" altLang="zh-CN" sz="2400" dirty="0">
              <a:latin typeface="华文楷体" panose="02010600040101010101" pitchFamily="2" charset="-122"/>
              <a:ea typeface="华文楷体" panose="02010600040101010101" pitchFamily="2" charset="-122"/>
            </a:endParaRPr>
          </a:p>
          <a:p>
            <a:pPr marL="0" indent="0">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8857362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marL="0" indent="0">
              <a:buNone/>
            </a:pPr>
            <a:br>
              <a:rPr lang="zh-CN" altLang="en-US" sz="1600" dirty="0"/>
            </a:br>
            <a:r>
              <a:rPr lang="en-US" altLang="zh-CN" sz="2400" dirty="0">
                <a:latin typeface="华文楷体" panose="02010600040101010101" pitchFamily="2" charset="-122"/>
                <a:ea typeface="华文楷体" panose="02010600040101010101" pitchFamily="2" charset="-122"/>
              </a:rPr>
              <a:t>3</a:t>
            </a:r>
            <a:r>
              <a:rPr lang="zh-CN" altLang="en-US" sz="2400" dirty="0">
                <a:latin typeface="华文楷体" panose="02010600040101010101" pitchFamily="2" charset="-122"/>
                <a:ea typeface="华文楷体" panose="02010600040101010101" pitchFamily="2" charset="-122"/>
              </a:rPr>
              <a:t>、</a:t>
            </a:r>
            <a:r>
              <a:rPr lang="en-US" altLang="zh-CN" sz="2400" dirty="0">
                <a:latin typeface="华文楷体" panose="02010600040101010101" pitchFamily="2" charset="-122"/>
                <a:ea typeface="华文楷体" panose="02010600040101010101" pitchFamily="2" charset="-122"/>
              </a:rPr>
              <a:t>2020-2021</a:t>
            </a:r>
            <a:r>
              <a:rPr lang="zh-CN" altLang="en-US" sz="2400" dirty="0">
                <a:latin typeface="华文楷体" panose="02010600040101010101" pitchFamily="2" charset="-122"/>
                <a:ea typeface="华文楷体" panose="02010600040101010101" pitchFamily="2" charset="-122"/>
              </a:rPr>
              <a:t>年疫情期间阅读纽约大学教授达摩达兰书籍及博客，进一步拓展投资估值思路</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908418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a:lnSpc>
                <a:spcPct val="100000"/>
              </a:lnSpc>
              <a:spcBef>
                <a:spcPts val="600"/>
              </a:spcBef>
              <a:spcAft>
                <a:spcPts val="600"/>
              </a:spcAft>
            </a:pPr>
            <a:r>
              <a:rPr lang="en-US" altLang="zh-CN" sz="2400" dirty="0">
                <a:latin typeface="华文楷体" panose="02010600040101010101" pitchFamily="2" charset="-122"/>
                <a:ea typeface="华文楷体" panose="02010600040101010101" pitchFamily="2" charset="-122"/>
              </a:rPr>
              <a:t>4</a:t>
            </a:r>
            <a:r>
              <a:rPr lang="zh-CN" altLang="en-US" sz="2400" dirty="0">
                <a:latin typeface="华文楷体" panose="02010600040101010101" pitchFamily="2" charset="-122"/>
                <a:ea typeface="华文楷体" panose="02010600040101010101" pitchFamily="2" charset="-122"/>
              </a:rPr>
              <a:t>、简化的上市公司智能估值计算表设计及获取反馈</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我第一阶段的估值计算表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1600" b="1" i="0" dirty="0">
                <a:solidFill>
                  <a:srgbClr val="33353C"/>
                </a:solidFill>
                <a:effectLst/>
                <a:latin typeface="Biaodian Pro Sans GB"/>
              </a:rPr>
              <a:t>比亚迪估值分析</a:t>
            </a:r>
            <a:r>
              <a:rPr lang="en-US" altLang="zh-CN" sz="1600" b="1" i="0" dirty="0">
                <a:solidFill>
                  <a:srgbClr val="33353C"/>
                </a:solidFill>
                <a:effectLst/>
                <a:latin typeface="Biaodian Pro Sans GB"/>
              </a:rPr>
              <a:t>-</a:t>
            </a:r>
            <a:r>
              <a:rPr lang="zh-CN" altLang="en-US" sz="1600" b="1" i="0" dirty="0">
                <a:solidFill>
                  <a:srgbClr val="33353C"/>
                </a:solidFill>
                <a:effectLst/>
                <a:latin typeface="Biaodian Pro Sans GB"/>
              </a:rPr>
              <a:t>双叙事情景</a:t>
            </a:r>
            <a:r>
              <a:rPr lang="en-US" altLang="zh-CN" sz="1600" b="1" i="0" dirty="0">
                <a:solidFill>
                  <a:srgbClr val="33353C"/>
                </a:solidFill>
                <a:effectLst/>
                <a:latin typeface="Biaodian Pro Sans GB"/>
              </a:rPr>
              <a:t>-</a:t>
            </a:r>
            <a:r>
              <a:rPr lang="zh-CN" altLang="en-US" sz="1600" b="1" i="0" dirty="0">
                <a:solidFill>
                  <a:srgbClr val="33353C"/>
                </a:solidFill>
                <a:effectLst/>
                <a:latin typeface="Biaodian Pro Sans GB"/>
              </a:rPr>
              <a:t>简式叙事估值模型运用</a:t>
            </a:r>
            <a:r>
              <a:rPr lang="en-US" altLang="zh-CN" sz="1600" b="1" i="0" dirty="0">
                <a:solidFill>
                  <a:srgbClr val="33353C"/>
                </a:solidFill>
                <a:effectLst/>
                <a:latin typeface="Biaodian Pro Sans GB"/>
              </a:rPr>
              <a:t>2-210517</a:t>
            </a:r>
            <a:r>
              <a:rPr lang="zh-CN" altLang="en-US" sz="1600" b="1" i="0" dirty="0">
                <a:solidFill>
                  <a:srgbClr val="33353C"/>
                </a:solidFill>
                <a:effectLst/>
                <a:latin typeface="Biaodian Pro Sans GB"/>
              </a:rPr>
              <a:t>修改</a:t>
            </a: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344481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6" name="图片 5">
            <a:extLst>
              <a:ext uri="{FF2B5EF4-FFF2-40B4-BE49-F238E27FC236}">
                <a16:creationId xmlns:a16="http://schemas.microsoft.com/office/drawing/2014/main" id="{DE534B28-C75C-4AE9-BD8A-E4FA6BF213E5}"/>
              </a:ext>
            </a:extLst>
          </p:cNvPr>
          <p:cNvPicPr>
            <a:picLocks noChangeAspect="1"/>
          </p:cNvPicPr>
          <p:nvPr/>
        </p:nvPicPr>
        <p:blipFill>
          <a:blip r:embed="rId2"/>
          <a:stretch>
            <a:fillRect/>
          </a:stretch>
        </p:blipFill>
        <p:spPr>
          <a:xfrm>
            <a:off x="4676088" y="0"/>
            <a:ext cx="5926974" cy="6858000"/>
          </a:xfrm>
          <a:prstGeom prst="rect">
            <a:avLst/>
          </a:prstGeom>
        </p:spPr>
      </p:pic>
    </p:spTree>
    <p:extLst>
      <p:ext uri="{BB962C8B-B14F-4D97-AF65-F5344CB8AC3E}">
        <p14:creationId xmlns:p14="http://schemas.microsoft.com/office/powerpoint/2010/main" val="39499712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975774A1-92C6-4561-AA08-5D223A5C923C}"/>
              </a:ext>
            </a:extLst>
          </p:cNvPr>
          <p:cNvPicPr>
            <a:picLocks noChangeAspect="1"/>
          </p:cNvPicPr>
          <p:nvPr/>
        </p:nvPicPr>
        <p:blipFill>
          <a:blip r:embed="rId2"/>
          <a:stretch>
            <a:fillRect/>
          </a:stretch>
        </p:blipFill>
        <p:spPr>
          <a:xfrm>
            <a:off x="4566391" y="0"/>
            <a:ext cx="5911476" cy="6858000"/>
          </a:xfrm>
          <a:prstGeom prst="rect">
            <a:avLst/>
          </a:prstGeom>
        </p:spPr>
      </p:pic>
    </p:spTree>
    <p:extLst>
      <p:ext uri="{BB962C8B-B14F-4D97-AF65-F5344CB8AC3E}">
        <p14:creationId xmlns:p14="http://schemas.microsoft.com/office/powerpoint/2010/main" val="33701504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6" name="图片 5">
            <a:extLst>
              <a:ext uri="{FF2B5EF4-FFF2-40B4-BE49-F238E27FC236}">
                <a16:creationId xmlns:a16="http://schemas.microsoft.com/office/drawing/2014/main" id="{6FFE4B10-825F-4C18-87D6-23F1C6052528}"/>
              </a:ext>
            </a:extLst>
          </p:cNvPr>
          <p:cNvPicPr>
            <a:picLocks noChangeAspect="1"/>
          </p:cNvPicPr>
          <p:nvPr/>
        </p:nvPicPr>
        <p:blipFill>
          <a:blip r:embed="rId2"/>
          <a:stretch>
            <a:fillRect/>
          </a:stretch>
        </p:blipFill>
        <p:spPr>
          <a:xfrm>
            <a:off x="4572028" y="0"/>
            <a:ext cx="5547863" cy="6858000"/>
          </a:xfrm>
          <a:prstGeom prst="rect">
            <a:avLst/>
          </a:prstGeom>
        </p:spPr>
      </p:pic>
    </p:spTree>
    <p:extLst>
      <p:ext uri="{BB962C8B-B14F-4D97-AF65-F5344CB8AC3E}">
        <p14:creationId xmlns:p14="http://schemas.microsoft.com/office/powerpoint/2010/main" val="3693525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5</a:t>
            </a:r>
            <a:r>
              <a:rPr lang="zh-CN" altLang="en-US" sz="2400" dirty="0">
                <a:latin typeface="华文楷体" panose="02010600040101010101" pitchFamily="2" charset="-122"/>
                <a:ea typeface="华文楷体" panose="02010600040101010101" pitchFamily="2" charset="-122"/>
              </a:rPr>
              <a:t>、联系软件公司朋友，希望将计算表软件化被拒绝并提出建议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6</a:t>
            </a:r>
            <a:r>
              <a:rPr lang="zh-CN" altLang="en-US" sz="2400" dirty="0">
                <a:latin typeface="华文楷体" panose="02010600040101010101" pitchFamily="2" charset="-122"/>
                <a:ea typeface="华文楷体" panose="02010600040101010101" pitchFamily="2" charset="-122"/>
              </a:rPr>
              <a:t>、自行学习编程技术</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7</a:t>
            </a:r>
            <a:r>
              <a:rPr lang="zh-CN" altLang="en-US" sz="2400" dirty="0">
                <a:latin typeface="华文楷体" panose="02010600040101010101" pitchFamily="2" charset="-122"/>
                <a:ea typeface="华文楷体" panose="02010600040101010101" pitchFamily="2" charset="-122"/>
              </a:rPr>
              <a:t>、完成上市公司财务分析系统</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2"/>
              </a:rPr>
              <a:t>https://valuershao.com/fsa</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8</a:t>
            </a:r>
            <a:r>
              <a:rPr lang="zh-CN" altLang="en-US" sz="2400" dirty="0">
                <a:latin typeface="华文楷体" panose="02010600040101010101" pitchFamily="2" charset="-122"/>
                <a:ea typeface="华文楷体" panose="02010600040101010101" pitchFamily="2" charset="-122"/>
              </a:rPr>
              <a:t>、完成可转债保底能力周报、上市公司兜底能力、关键词新闻周报系统</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3"/>
              </a:rPr>
              <a:t>https://valuershao.com/cbweek</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9</a:t>
            </a:r>
            <a:r>
              <a:rPr lang="zh-CN" altLang="en-US" sz="2400" dirty="0">
                <a:latin typeface="华文楷体" panose="02010600040101010101" pitchFamily="2" charset="-122"/>
                <a:ea typeface="华文楷体" panose="02010600040101010101" pitchFamily="2" charset="-122"/>
              </a:rPr>
              <a:t>、完成上市公司市场比较估价系统</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4"/>
              </a:rPr>
              <a:t>https://valuershao.com/marketa</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35819906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10</a:t>
            </a:r>
            <a:r>
              <a:rPr lang="zh-CN" altLang="en-US" sz="2400" dirty="0">
                <a:latin typeface="华文楷体" panose="02010600040101010101" pitchFamily="2" charset="-122"/>
                <a:ea typeface="华文楷体" panose="02010600040101010101" pitchFamily="2" charset="-122"/>
              </a:rPr>
              <a:t>、进行中：上市公司收益法估值系统</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11</a:t>
            </a:r>
            <a:r>
              <a:rPr lang="zh-CN" altLang="en-US" sz="2400" dirty="0">
                <a:latin typeface="华文楷体" panose="02010600040101010101" pitchFamily="2" charset="-122"/>
                <a:ea typeface="华文楷体" panose="02010600040101010101" pitchFamily="2" charset="-122"/>
              </a:rPr>
              <a:t>、进行中：企业叙事估值系统</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23360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pic>
        <p:nvPicPr>
          <p:cNvPr id="9" name="图片 8">
            <a:extLst>
              <a:ext uri="{FF2B5EF4-FFF2-40B4-BE49-F238E27FC236}">
                <a16:creationId xmlns:a16="http://schemas.microsoft.com/office/drawing/2014/main" id="{C64F128F-A8BF-4DE7-A84E-EFAF812D203F}"/>
              </a:ext>
            </a:extLst>
          </p:cNvPr>
          <p:cNvPicPr>
            <a:picLocks noChangeAspect="1"/>
          </p:cNvPicPr>
          <p:nvPr/>
        </p:nvPicPr>
        <p:blipFill>
          <a:blip r:embed="rId2"/>
          <a:stretch>
            <a:fillRect/>
          </a:stretch>
        </p:blipFill>
        <p:spPr>
          <a:xfrm>
            <a:off x="6769951" y="134224"/>
            <a:ext cx="5027730" cy="6858000"/>
          </a:xfrm>
          <a:prstGeom prst="rect">
            <a:avLst/>
          </a:prstGeom>
        </p:spPr>
      </p:pic>
    </p:spTree>
    <p:extLst>
      <p:ext uri="{BB962C8B-B14F-4D97-AF65-F5344CB8AC3E}">
        <p14:creationId xmlns:p14="http://schemas.microsoft.com/office/powerpoint/2010/main" val="16430659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pic>
        <p:nvPicPr>
          <p:cNvPr id="5" name="图片 4">
            <a:extLst>
              <a:ext uri="{FF2B5EF4-FFF2-40B4-BE49-F238E27FC236}">
                <a16:creationId xmlns:a16="http://schemas.microsoft.com/office/drawing/2014/main" id="{AAF848FE-3CA6-42F6-BCEB-5F7A5897890D}"/>
              </a:ext>
            </a:extLst>
          </p:cNvPr>
          <p:cNvPicPr>
            <a:picLocks noChangeAspect="1"/>
          </p:cNvPicPr>
          <p:nvPr/>
        </p:nvPicPr>
        <p:blipFill>
          <a:blip r:embed="rId2"/>
          <a:stretch>
            <a:fillRect/>
          </a:stretch>
        </p:blipFill>
        <p:spPr>
          <a:xfrm>
            <a:off x="4321707" y="120592"/>
            <a:ext cx="7800385" cy="6616816"/>
          </a:xfrm>
          <a:prstGeom prst="rect">
            <a:avLst/>
          </a:prstGeom>
        </p:spPr>
      </p:pic>
    </p:spTree>
    <p:extLst>
      <p:ext uri="{BB962C8B-B14F-4D97-AF65-F5344CB8AC3E}">
        <p14:creationId xmlns:p14="http://schemas.microsoft.com/office/powerpoint/2010/main" val="24580597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我与智能估值</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个人设计本课程思路：</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研究探索</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简洁实用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359604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pPr algn="ctr"/>
            <a:r>
              <a:rPr lang="zh-CN" altLang="en-US" dirty="0">
                <a:latin typeface="华文楷体" panose="02010600040101010101" pitchFamily="2" charset="-122"/>
                <a:ea typeface="华文楷体" panose="02010600040101010101" pitchFamily="2" charset="-122"/>
              </a:rPr>
              <a:t>课程拟访谈专家</a:t>
            </a:r>
            <a:r>
              <a:rPr lang="en-US" altLang="zh-CN" dirty="0">
                <a:latin typeface="华文楷体" panose="02010600040101010101" pitchFamily="2" charset="-122"/>
                <a:ea typeface="华文楷体" panose="02010600040101010101" pitchFamily="2" charset="-122"/>
              </a:rPr>
              <a:t>	</a:t>
            </a:r>
            <a:endParaRPr lang="zh-CN" altLang="en-US" dirty="0">
              <a:latin typeface="华文楷体" panose="02010600040101010101" pitchFamily="2" charset="-122"/>
              <a:ea typeface="华文楷体" panose="02010600040101010101" pitchFamily="2" charset="-122"/>
            </a:endParaRPr>
          </a:p>
        </p:txBody>
      </p:sp>
      <p:sp>
        <p:nvSpPr>
          <p:cNvPr id="3" name="内容占位符 2"/>
          <p:cNvSpPr>
            <a:spLocks noGrp="1"/>
          </p:cNvSpPr>
          <p:nvPr>
            <p:ph idx="1"/>
          </p:nvPr>
        </p:nvSpPr>
        <p:spPr>
          <a:xfrm>
            <a:off x="4991450" y="1348557"/>
            <a:ext cx="6362350" cy="5144318"/>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09851984-0856-4AFB-81EC-D34180D2EAFF}"/>
              </a:ext>
            </a:extLst>
          </p:cNvPr>
          <p:cNvPicPr>
            <a:picLocks noChangeAspect="1"/>
          </p:cNvPicPr>
          <p:nvPr/>
        </p:nvPicPr>
        <p:blipFill>
          <a:blip r:embed="rId2"/>
          <a:stretch>
            <a:fillRect/>
          </a:stretch>
        </p:blipFill>
        <p:spPr>
          <a:xfrm>
            <a:off x="486464" y="1690688"/>
            <a:ext cx="4038095" cy="3238095"/>
          </a:xfrm>
          <a:prstGeom prst="rect">
            <a:avLst/>
          </a:prstGeom>
        </p:spPr>
      </p:pic>
      <p:sp>
        <p:nvSpPr>
          <p:cNvPr id="9" name="文本框 8">
            <a:extLst>
              <a:ext uri="{FF2B5EF4-FFF2-40B4-BE49-F238E27FC236}">
                <a16:creationId xmlns:a16="http://schemas.microsoft.com/office/drawing/2014/main" id="{EF6C2B02-A70E-445F-8AD9-D2D2656C6EF2}"/>
              </a:ext>
            </a:extLst>
          </p:cNvPr>
          <p:cNvSpPr txBox="1"/>
          <p:nvPr/>
        </p:nvSpPr>
        <p:spPr>
          <a:xfrm>
            <a:off x="4991450" y="1690688"/>
            <a:ext cx="6094602" cy="3139321"/>
          </a:xfrm>
          <a:prstGeom prst="rect">
            <a:avLst/>
          </a:prstGeom>
          <a:noFill/>
        </p:spPr>
        <p:txBody>
          <a:bodyPr wrap="square">
            <a:spAutoFit/>
          </a:bodyPr>
          <a:lstStyle/>
          <a:p>
            <a:r>
              <a:rPr lang="zh-CN" altLang="en-US" dirty="0">
                <a:solidFill>
                  <a:srgbClr val="333333"/>
                </a:solidFill>
                <a:latin typeface="楷体" panose="02010609060101010101" pitchFamily="49" charset="-122"/>
                <a:ea typeface="楷体" panose="02010609060101010101" pitchFamily="49" charset="-122"/>
              </a:rPr>
              <a:t>邹润芳</a:t>
            </a:r>
            <a:endParaRPr lang="en-US" altLang="zh-CN" dirty="0">
              <a:solidFill>
                <a:srgbClr val="333333"/>
              </a:solidFill>
              <a:latin typeface="楷体" panose="02010609060101010101" pitchFamily="49" charset="-122"/>
              <a:ea typeface="楷体" panose="02010609060101010101" pitchFamily="49" charset="-122"/>
            </a:endParaRPr>
          </a:p>
          <a:p>
            <a:r>
              <a:rPr lang="zh-CN" altLang="en-US" dirty="0">
                <a:solidFill>
                  <a:srgbClr val="333333"/>
                </a:solidFill>
                <a:latin typeface="楷体" panose="02010609060101010101" pitchFamily="49" charset="-122"/>
                <a:ea typeface="楷体" panose="02010609060101010101" pitchFamily="49" charset="-122"/>
              </a:rPr>
              <a:t>中航证券研究所所长</a:t>
            </a:r>
            <a:endParaRPr lang="en-US" altLang="zh-CN" dirty="0">
              <a:solidFill>
                <a:srgbClr val="333333"/>
              </a:solidFill>
              <a:latin typeface="楷体" panose="02010609060101010101" pitchFamily="49" charset="-122"/>
              <a:ea typeface="楷体" panose="02010609060101010101" pitchFamily="49" charset="-122"/>
            </a:endParaRPr>
          </a:p>
          <a:p>
            <a:r>
              <a:rPr lang="zh-CN" altLang="en-US" b="0" i="0" dirty="0">
                <a:solidFill>
                  <a:srgbClr val="333333"/>
                </a:solidFill>
                <a:effectLst/>
                <a:latin typeface="楷体" panose="02010609060101010101" pitchFamily="49" charset="-122"/>
                <a:ea typeface="楷体" panose="02010609060101010101" pitchFamily="49" charset="-122"/>
              </a:rPr>
              <a:t>先后在光大证券，中国银河证券、国投安信证券及天风证券担任核心领导岗位，负责机械军工行业产业研究。负责整个先进制造业多个行业小组的研究，团队在军民融合，智能制造，新能源车、高端装备制造、新材料等多个领域有较深的产业资本积淀。团队曾获得</a:t>
            </a:r>
            <a:r>
              <a:rPr lang="en-US" altLang="zh-CN" b="0" i="0" dirty="0">
                <a:solidFill>
                  <a:srgbClr val="333333"/>
                </a:solidFill>
                <a:effectLst/>
                <a:latin typeface="楷体" panose="02010609060101010101" pitchFamily="49" charset="-122"/>
                <a:ea typeface="楷体" panose="02010609060101010101" pitchFamily="49" charset="-122"/>
              </a:rPr>
              <a:t>2012</a:t>
            </a:r>
            <a:r>
              <a:rPr lang="zh-CN" altLang="en-US" b="0" i="0" dirty="0">
                <a:solidFill>
                  <a:srgbClr val="333333"/>
                </a:solidFill>
                <a:effectLst/>
                <a:latin typeface="楷体" panose="02010609060101010101" pitchFamily="49" charset="-122"/>
                <a:ea typeface="楷体" panose="02010609060101010101" pitchFamily="49" charset="-122"/>
              </a:rPr>
              <a:t>至</a:t>
            </a:r>
            <a:r>
              <a:rPr lang="en-US" altLang="zh-CN" b="0" i="0" dirty="0">
                <a:solidFill>
                  <a:srgbClr val="333333"/>
                </a:solidFill>
                <a:effectLst/>
                <a:latin typeface="楷体" panose="02010609060101010101" pitchFamily="49" charset="-122"/>
                <a:ea typeface="楷体" panose="02010609060101010101" pitchFamily="49" charset="-122"/>
              </a:rPr>
              <a:t>2013</a:t>
            </a:r>
            <a:r>
              <a:rPr lang="zh-CN" altLang="en-US" b="0" i="0" dirty="0">
                <a:solidFill>
                  <a:srgbClr val="333333"/>
                </a:solidFill>
                <a:effectLst/>
                <a:latin typeface="楷体" panose="02010609060101010101" pitchFamily="49" charset="-122"/>
                <a:ea typeface="楷体" panose="02010609060101010101" pitchFamily="49" charset="-122"/>
              </a:rPr>
              <a:t>年新财富最佳分析师军工机械第一名，</a:t>
            </a:r>
            <a:r>
              <a:rPr lang="en-US" altLang="zh-CN" b="0" i="0" dirty="0">
                <a:solidFill>
                  <a:srgbClr val="333333"/>
                </a:solidFill>
                <a:effectLst/>
                <a:latin typeface="楷体" panose="02010609060101010101" pitchFamily="49" charset="-122"/>
                <a:ea typeface="楷体" panose="02010609060101010101" pitchFamily="49" charset="-122"/>
              </a:rPr>
              <a:t>2015</a:t>
            </a:r>
            <a:r>
              <a:rPr lang="zh-CN" altLang="en-US" b="0" i="0" dirty="0">
                <a:solidFill>
                  <a:srgbClr val="333333"/>
                </a:solidFill>
                <a:effectLst/>
                <a:latin typeface="楷体" panose="02010609060101010101" pitchFamily="49" charset="-122"/>
                <a:ea typeface="楷体" panose="02010609060101010101" pitchFamily="49" charset="-122"/>
              </a:rPr>
              <a:t>至</a:t>
            </a:r>
            <a:r>
              <a:rPr lang="en-US" altLang="zh-CN" b="0" i="0" dirty="0">
                <a:solidFill>
                  <a:srgbClr val="333333"/>
                </a:solidFill>
                <a:effectLst/>
                <a:latin typeface="楷体" panose="02010609060101010101" pitchFamily="49" charset="-122"/>
                <a:ea typeface="楷体" panose="02010609060101010101" pitchFamily="49" charset="-122"/>
              </a:rPr>
              <a:t>2017</a:t>
            </a:r>
            <a:r>
              <a:rPr lang="zh-CN" altLang="en-US" b="0" i="0" dirty="0">
                <a:solidFill>
                  <a:srgbClr val="333333"/>
                </a:solidFill>
                <a:effectLst/>
                <a:latin typeface="楷体" panose="02010609060101010101" pitchFamily="49" charset="-122"/>
                <a:ea typeface="楷体" panose="02010609060101010101" pitchFamily="49" charset="-122"/>
              </a:rPr>
              <a:t>新财富最佳分析师机械行业第一名。</a:t>
            </a:r>
            <a:r>
              <a:rPr lang="en-US" altLang="zh-CN" b="0" i="0" dirty="0">
                <a:solidFill>
                  <a:srgbClr val="333333"/>
                </a:solidFill>
                <a:effectLst/>
                <a:latin typeface="楷体" panose="02010609060101010101" pitchFamily="49" charset="-122"/>
                <a:ea typeface="楷体" panose="02010609060101010101" pitchFamily="49" charset="-122"/>
              </a:rPr>
              <a:t>2015</a:t>
            </a:r>
            <a:r>
              <a:rPr lang="zh-CN" altLang="en-US" b="0" i="0" dirty="0">
                <a:solidFill>
                  <a:srgbClr val="333333"/>
                </a:solidFill>
                <a:effectLst/>
                <a:latin typeface="楷体" panose="02010609060101010101" pitchFamily="49" charset="-122"/>
                <a:ea typeface="楷体" panose="02010609060101010101" pitchFamily="49" charset="-122"/>
              </a:rPr>
              <a:t>至</a:t>
            </a:r>
            <a:r>
              <a:rPr lang="en-US" altLang="zh-CN" b="0" i="0" dirty="0">
                <a:solidFill>
                  <a:srgbClr val="333333"/>
                </a:solidFill>
                <a:effectLst/>
                <a:latin typeface="楷体" panose="02010609060101010101" pitchFamily="49" charset="-122"/>
                <a:ea typeface="楷体" panose="02010609060101010101" pitchFamily="49" charset="-122"/>
              </a:rPr>
              <a:t>2016</a:t>
            </a:r>
            <a:r>
              <a:rPr lang="zh-CN" altLang="en-US" b="0" i="0" dirty="0">
                <a:solidFill>
                  <a:srgbClr val="333333"/>
                </a:solidFill>
                <a:effectLst/>
                <a:latin typeface="楷体" panose="02010609060101010101" pitchFamily="49" charset="-122"/>
                <a:ea typeface="楷体" panose="02010609060101010101" pitchFamily="49" charset="-122"/>
              </a:rPr>
              <a:t>年，</a:t>
            </a:r>
            <a:r>
              <a:rPr lang="en-US" altLang="zh-CN" b="0" i="0" dirty="0">
                <a:solidFill>
                  <a:srgbClr val="333333"/>
                </a:solidFill>
                <a:effectLst/>
                <a:latin typeface="楷体" panose="02010609060101010101" pitchFamily="49" charset="-122"/>
                <a:ea typeface="楷体" panose="02010609060101010101" pitchFamily="49" charset="-122"/>
              </a:rPr>
              <a:t>IAMAC</a:t>
            </a:r>
            <a:r>
              <a:rPr lang="zh-CN" altLang="en-US" b="0" i="0" dirty="0">
                <a:solidFill>
                  <a:srgbClr val="333333"/>
                </a:solidFill>
                <a:effectLst/>
                <a:latin typeface="楷体" panose="02010609060101010101" pitchFamily="49" charset="-122"/>
                <a:ea typeface="楷体" panose="02010609060101010101" pitchFamily="49" charset="-122"/>
              </a:rPr>
              <a:t>军工第二名，并受聘为多家国有大型机构和多家上市公司的外部专家和顾问。</a:t>
            </a:r>
            <a:endParaRPr lang="zh-CN" altLang="en-US" dirty="0"/>
          </a:p>
        </p:txBody>
      </p:sp>
    </p:spTree>
    <p:extLst>
      <p:ext uri="{BB962C8B-B14F-4D97-AF65-F5344CB8AC3E}">
        <p14:creationId xmlns:p14="http://schemas.microsoft.com/office/powerpoint/2010/main" val="1886228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pPr algn="ctr"/>
            <a:r>
              <a:rPr lang="zh-CN" altLang="en-US" dirty="0">
                <a:latin typeface="华文楷体" panose="02010600040101010101" pitchFamily="2" charset="-122"/>
                <a:ea typeface="华文楷体" panose="02010600040101010101" pitchFamily="2" charset="-122"/>
              </a:rPr>
              <a:t>课程拟访谈专家</a:t>
            </a:r>
            <a:r>
              <a:rPr lang="en-US" altLang="zh-CN" dirty="0">
                <a:latin typeface="华文楷体" panose="02010600040101010101" pitchFamily="2" charset="-122"/>
                <a:ea typeface="华文楷体" panose="02010600040101010101" pitchFamily="2" charset="-122"/>
              </a:rPr>
              <a:t>	</a:t>
            </a:r>
            <a:endParaRPr lang="zh-CN" altLang="en-US" dirty="0">
              <a:latin typeface="华文楷体" panose="02010600040101010101" pitchFamily="2" charset="-122"/>
              <a:ea typeface="华文楷体" panose="02010600040101010101" pitchFamily="2" charset="-122"/>
            </a:endParaRPr>
          </a:p>
        </p:txBody>
      </p:sp>
      <p:sp>
        <p:nvSpPr>
          <p:cNvPr id="3" name="内容占位符 2"/>
          <p:cNvSpPr>
            <a:spLocks noGrp="1"/>
          </p:cNvSpPr>
          <p:nvPr>
            <p:ph idx="1"/>
          </p:nvPr>
        </p:nvSpPr>
        <p:spPr>
          <a:xfrm>
            <a:off x="4932727" y="2170678"/>
            <a:ext cx="6362350" cy="5144318"/>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
        <p:nvSpPr>
          <p:cNvPr id="9" name="文本框 8">
            <a:extLst>
              <a:ext uri="{FF2B5EF4-FFF2-40B4-BE49-F238E27FC236}">
                <a16:creationId xmlns:a16="http://schemas.microsoft.com/office/drawing/2014/main" id="{EF6C2B02-A70E-445F-8AD9-D2D2656C6EF2}"/>
              </a:ext>
            </a:extLst>
          </p:cNvPr>
          <p:cNvSpPr txBox="1"/>
          <p:nvPr/>
        </p:nvSpPr>
        <p:spPr>
          <a:xfrm>
            <a:off x="4932727" y="2395363"/>
            <a:ext cx="6094602" cy="923330"/>
          </a:xfrm>
          <a:prstGeom prst="rect">
            <a:avLst/>
          </a:prstGeom>
          <a:noFill/>
        </p:spPr>
        <p:txBody>
          <a:bodyPr wrap="square">
            <a:spAutoFit/>
          </a:bodyPr>
          <a:lstStyle/>
          <a:p>
            <a:r>
              <a:rPr lang="zh-CN" altLang="en-US" dirty="0">
                <a:solidFill>
                  <a:srgbClr val="333333"/>
                </a:solidFill>
                <a:latin typeface="楷体" panose="02010609060101010101" pitchFamily="49" charset="-122"/>
                <a:ea typeface="楷体" panose="02010609060101010101" pitchFamily="49" charset="-122"/>
              </a:rPr>
              <a:t>张玮</a:t>
            </a:r>
            <a:endParaRPr lang="en-US" altLang="zh-CN" dirty="0">
              <a:solidFill>
                <a:srgbClr val="333333"/>
              </a:solidFill>
              <a:latin typeface="楷体" panose="02010609060101010101" pitchFamily="49" charset="-122"/>
              <a:ea typeface="楷体" panose="02010609060101010101" pitchFamily="49" charset="-122"/>
            </a:endParaRPr>
          </a:p>
          <a:p>
            <a:r>
              <a:rPr lang="zh-CN" altLang="en-US" dirty="0">
                <a:solidFill>
                  <a:srgbClr val="333333"/>
                </a:solidFill>
                <a:latin typeface="楷体" panose="02010609060101010101" pitchFamily="49" charset="-122"/>
                <a:ea typeface="楷体" panose="02010609060101010101" pitchFamily="49" charset="-122"/>
              </a:rPr>
              <a:t>昆仑健康资管首席宏观研究员</a:t>
            </a:r>
            <a:endParaRPr lang="en-US" altLang="zh-CN" dirty="0">
              <a:solidFill>
                <a:srgbClr val="333333"/>
              </a:solidFill>
              <a:latin typeface="楷体" panose="02010609060101010101" pitchFamily="49" charset="-122"/>
              <a:ea typeface="楷体" panose="02010609060101010101" pitchFamily="49" charset="-122"/>
            </a:endParaRPr>
          </a:p>
          <a:p>
            <a:r>
              <a:rPr lang="zh-CN" altLang="en-US" dirty="0">
                <a:solidFill>
                  <a:srgbClr val="333333"/>
                </a:solidFill>
                <a:latin typeface="楷体" panose="02010609060101010101" pitchFamily="49" charset="-122"/>
                <a:ea typeface="楷体" panose="02010609060101010101" pitchFamily="49" charset="-122"/>
              </a:rPr>
              <a:t>网易研究局专栏作家</a:t>
            </a:r>
            <a:endParaRPr lang="en-US" altLang="zh-CN" dirty="0">
              <a:solidFill>
                <a:srgbClr val="333333"/>
              </a:solidFill>
              <a:latin typeface="楷体" panose="02010609060101010101" pitchFamily="49" charset="-122"/>
              <a:ea typeface="楷体" panose="02010609060101010101" pitchFamily="49" charset="-122"/>
            </a:endParaRPr>
          </a:p>
        </p:txBody>
      </p:sp>
      <p:pic>
        <p:nvPicPr>
          <p:cNvPr id="6" name="图片 5">
            <a:extLst>
              <a:ext uri="{FF2B5EF4-FFF2-40B4-BE49-F238E27FC236}">
                <a16:creationId xmlns:a16="http://schemas.microsoft.com/office/drawing/2014/main" id="{BAD8167C-3537-476F-98E4-E6DFB21ACF0A}"/>
              </a:ext>
            </a:extLst>
          </p:cNvPr>
          <p:cNvPicPr>
            <a:picLocks noChangeAspect="1"/>
          </p:cNvPicPr>
          <p:nvPr/>
        </p:nvPicPr>
        <p:blipFill>
          <a:blip r:embed="rId2"/>
          <a:stretch>
            <a:fillRect/>
          </a:stretch>
        </p:blipFill>
        <p:spPr>
          <a:xfrm>
            <a:off x="771934" y="1367095"/>
            <a:ext cx="3752381" cy="4123809"/>
          </a:xfrm>
          <a:prstGeom prst="rect">
            <a:avLst/>
          </a:prstGeom>
        </p:spPr>
      </p:pic>
    </p:spTree>
    <p:extLst>
      <p:ext uri="{BB962C8B-B14F-4D97-AF65-F5344CB8AC3E}">
        <p14:creationId xmlns:p14="http://schemas.microsoft.com/office/powerpoint/2010/main" val="32036439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pPr algn="ctr"/>
            <a:r>
              <a:rPr lang="zh-CN" altLang="en-US" dirty="0">
                <a:latin typeface="华文楷体" panose="02010600040101010101" pitchFamily="2" charset="-122"/>
                <a:ea typeface="华文楷体" panose="02010600040101010101" pitchFamily="2" charset="-122"/>
              </a:rPr>
              <a:t>课程拟访谈专家</a:t>
            </a:r>
            <a:r>
              <a:rPr lang="en-US" altLang="zh-CN" dirty="0">
                <a:latin typeface="华文楷体" panose="02010600040101010101" pitchFamily="2" charset="-122"/>
                <a:ea typeface="华文楷体" panose="02010600040101010101" pitchFamily="2" charset="-122"/>
              </a:rPr>
              <a:t>	</a:t>
            </a:r>
            <a:endParaRPr lang="zh-CN" altLang="en-US" dirty="0">
              <a:latin typeface="华文楷体" panose="02010600040101010101" pitchFamily="2" charset="-122"/>
              <a:ea typeface="华文楷体" panose="02010600040101010101" pitchFamily="2" charset="-122"/>
            </a:endParaRPr>
          </a:p>
        </p:txBody>
      </p:sp>
      <p:sp>
        <p:nvSpPr>
          <p:cNvPr id="3" name="内容占位符 2"/>
          <p:cNvSpPr>
            <a:spLocks noGrp="1"/>
          </p:cNvSpPr>
          <p:nvPr>
            <p:ph idx="1"/>
          </p:nvPr>
        </p:nvSpPr>
        <p:spPr>
          <a:xfrm>
            <a:off x="4932727" y="2170678"/>
            <a:ext cx="6362350" cy="5144318"/>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
        <p:nvSpPr>
          <p:cNvPr id="9" name="文本框 8">
            <a:extLst>
              <a:ext uri="{FF2B5EF4-FFF2-40B4-BE49-F238E27FC236}">
                <a16:creationId xmlns:a16="http://schemas.microsoft.com/office/drawing/2014/main" id="{EF6C2B02-A70E-445F-8AD9-D2D2656C6EF2}"/>
              </a:ext>
            </a:extLst>
          </p:cNvPr>
          <p:cNvSpPr txBox="1"/>
          <p:nvPr/>
        </p:nvSpPr>
        <p:spPr>
          <a:xfrm>
            <a:off x="4932727" y="2395363"/>
            <a:ext cx="6094602" cy="2585323"/>
          </a:xfrm>
          <a:prstGeom prst="rect">
            <a:avLst/>
          </a:prstGeom>
          <a:noFill/>
        </p:spPr>
        <p:txBody>
          <a:bodyPr wrap="square">
            <a:spAutoFit/>
          </a:bodyPr>
          <a:lstStyle/>
          <a:p>
            <a:r>
              <a:rPr lang="zh-CN" altLang="en-US" dirty="0">
                <a:solidFill>
                  <a:srgbClr val="333333"/>
                </a:solidFill>
                <a:latin typeface="楷体" panose="02010609060101010101" pitchFamily="49" charset="-122"/>
                <a:ea typeface="楷体" panose="02010609060101010101" pitchFamily="49" charset="-122"/>
              </a:rPr>
              <a:t>李永刚</a:t>
            </a:r>
            <a:endParaRPr lang="en-US" altLang="zh-CN" dirty="0">
              <a:solidFill>
                <a:srgbClr val="333333"/>
              </a:solidFill>
              <a:latin typeface="楷体" panose="02010609060101010101" pitchFamily="49" charset="-122"/>
              <a:ea typeface="楷体" panose="02010609060101010101" pitchFamily="49" charset="-122"/>
            </a:endParaRPr>
          </a:p>
          <a:p>
            <a:r>
              <a:rPr lang="zh-CN" altLang="en-US" dirty="0">
                <a:solidFill>
                  <a:srgbClr val="333333"/>
                </a:solidFill>
                <a:latin typeface="楷体" panose="02010609060101010101" pitchFamily="49" charset="-122"/>
                <a:ea typeface="楷体" panose="02010609060101010101" pitchFamily="49" charset="-122"/>
              </a:rPr>
              <a:t>中企华副总裁兼国际业务部总经理和质控部总经理</a:t>
            </a:r>
            <a:endParaRPr lang="en-US" altLang="zh-CN" dirty="0">
              <a:solidFill>
                <a:srgbClr val="333333"/>
              </a:solidFill>
              <a:latin typeface="楷体" panose="02010609060101010101" pitchFamily="49" charset="-122"/>
              <a:ea typeface="楷体" panose="02010609060101010101" pitchFamily="49" charset="-122"/>
            </a:endParaRPr>
          </a:p>
          <a:p>
            <a:r>
              <a:rPr lang="zh-CN" altLang="en-US" dirty="0">
                <a:solidFill>
                  <a:srgbClr val="333333"/>
                </a:solidFill>
                <a:latin typeface="楷体" panose="02010609060101010101" pitchFamily="49" charset="-122"/>
                <a:ea typeface="楷体" panose="02010609060101010101" pitchFamily="49" charset="-122"/>
              </a:rPr>
              <a:t>曾负责中企华信息化建设工作，并曾担任中国证监会会计部顾问助理，证监会行政处罚委专家成员，国务院国资委及天津国资委评审专家，中国资产评估协会国际业务专家，北京资产评估协会战略委员会委员，北京资产评估协会第三届“行业专家管理型人才”，财政部监督检查局和中国资产评估协会行业大检查组成员，北京统战部第二代非公经济人士。</a:t>
            </a:r>
            <a:endParaRPr lang="en-US" altLang="zh-CN" dirty="0">
              <a:solidFill>
                <a:srgbClr val="333333"/>
              </a:solidFill>
              <a:latin typeface="楷体" panose="02010609060101010101" pitchFamily="49" charset="-122"/>
              <a:ea typeface="楷体" panose="02010609060101010101" pitchFamily="49" charset="-122"/>
            </a:endParaRPr>
          </a:p>
        </p:txBody>
      </p:sp>
      <p:pic>
        <p:nvPicPr>
          <p:cNvPr id="5" name="图片 4">
            <a:extLst>
              <a:ext uri="{FF2B5EF4-FFF2-40B4-BE49-F238E27FC236}">
                <a16:creationId xmlns:a16="http://schemas.microsoft.com/office/drawing/2014/main" id="{5DD1F102-A60A-4531-B5C2-23D08F145832}"/>
              </a:ext>
            </a:extLst>
          </p:cNvPr>
          <p:cNvPicPr>
            <a:picLocks noChangeAspect="1"/>
          </p:cNvPicPr>
          <p:nvPr/>
        </p:nvPicPr>
        <p:blipFill>
          <a:blip r:embed="rId2"/>
          <a:stretch>
            <a:fillRect/>
          </a:stretch>
        </p:blipFill>
        <p:spPr>
          <a:xfrm>
            <a:off x="1435663" y="2048047"/>
            <a:ext cx="2257143" cy="2761905"/>
          </a:xfrm>
          <a:prstGeom prst="rect">
            <a:avLst/>
          </a:prstGeom>
        </p:spPr>
      </p:pic>
    </p:spTree>
    <p:extLst>
      <p:ext uri="{BB962C8B-B14F-4D97-AF65-F5344CB8AC3E}">
        <p14:creationId xmlns:p14="http://schemas.microsoft.com/office/powerpoint/2010/main" val="3959199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pPr algn="ctr"/>
            <a:r>
              <a:rPr lang="zh-CN" altLang="en-US" dirty="0">
                <a:latin typeface="华文楷体" panose="02010600040101010101" pitchFamily="2" charset="-122"/>
                <a:ea typeface="华文楷体" panose="02010600040101010101" pitchFamily="2" charset="-122"/>
              </a:rPr>
              <a:t>课程拟访谈专家</a:t>
            </a:r>
            <a:r>
              <a:rPr lang="en-US" altLang="zh-CN" dirty="0">
                <a:latin typeface="华文楷体" panose="02010600040101010101" pitchFamily="2" charset="-122"/>
                <a:ea typeface="华文楷体" panose="02010600040101010101" pitchFamily="2" charset="-122"/>
              </a:rPr>
              <a:t>	</a:t>
            </a:r>
            <a:endParaRPr lang="zh-CN" altLang="en-US" dirty="0">
              <a:latin typeface="华文楷体" panose="02010600040101010101" pitchFamily="2" charset="-122"/>
              <a:ea typeface="华文楷体" panose="02010600040101010101" pitchFamily="2" charset="-122"/>
            </a:endParaRPr>
          </a:p>
        </p:txBody>
      </p:sp>
      <p:sp>
        <p:nvSpPr>
          <p:cNvPr id="3" name="内容占位符 2"/>
          <p:cNvSpPr>
            <a:spLocks noGrp="1"/>
          </p:cNvSpPr>
          <p:nvPr>
            <p:ph idx="1"/>
          </p:nvPr>
        </p:nvSpPr>
        <p:spPr>
          <a:xfrm>
            <a:off x="4932727" y="2170678"/>
            <a:ext cx="6362350" cy="5144318"/>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
        <p:nvSpPr>
          <p:cNvPr id="9" name="文本框 8">
            <a:extLst>
              <a:ext uri="{FF2B5EF4-FFF2-40B4-BE49-F238E27FC236}">
                <a16:creationId xmlns:a16="http://schemas.microsoft.com/office/drawing/2014/main" id="{EF6C2B02-A70E-445F-8AD9-D2D2656C6EF2}"/>
              </a:ext>
            </a:extLst>
          </p:cNvPr>
          <p:cNvSpPr txBox="1"/>
          <p:nvPr/>
        </p:nvSpPr>
        <p:spPr>
          <a:xfrm>
            <a:off x="2835479" y="2353418"/>
            <a:ext cx="6094602" cy="646331"/>
          </a:xfrm>
          <a:prstGeom prst="rect">
            <a:avLst/>
          </a:prstGeom>
          <a:noFill/>
        </p:spPr>
        <p:txBody>
          <a:bodyPr wrap="square">
            <a:spAutoFit/>
          </a:bodyPr>
          <a:lstStyle/>
          <a:p>
            <a:r>
              <a:rPr lang="zh-CN" altLang="en-US" dirty="0">
                <a:solidFill>
                  <a:srgbClr val="333333"/>
                </a:solidFill>
                <a:latin typeface="楷体" panose="02010609060101010101" pitchFamily="49" charset="-122"/>
                <a:ea typeface="楷体" panose="02010609060101010101" pitchFamily="49" charset="-122"/>
              </a:rPr>
              <a:t>挖地兔</a:t>
            </a:r>
            <a:endParaRPr lang="en-US" altLang="zh-CN" dirty="0">
              <a:solidFill>
                <a:srgbClr val="333333"/>
              </a:solidFill>
              <a:latin typeface="楷体" panose="02010609060101010101" pitchFamily="49" charset="-122"/>
              <a:ea typeface="楷体" panose="02010609060101010101" pitchFamily="49" charset="-122"/>
            </a:endParaRPr>
          </a:p>
          <a:p>
            <a:r>
              <a:rPr lang="zh-CN" altLang="en-US" dirty="0">
                <a:solidFill>
                  <a:srgbClr val="333333"/>
                </a:solidFill>
                <a:latin typeface="楷体" panose="02010609060101010101" pitchFamily="49" charset="-122"/>
                <a:ea typeface="楷体" panose="02010609060101010101" pitchFamily="49" charset="-122"/>
              </a:rPr>
              <a:t>知名财经数据网站</a:t>
            </a:r>
            <a:r>
              <a:rPr lang="en-US" altLang="zh-CN" dirty="0" err="1">
                <a:solidFill>
                  <a:srgbClr val="333333"/>
                </a:solidFill>
                <a:latin typeface="楷体" panose="02010609060101010101" pitchFamily="49" charset="-122"/>
                <a:ea typeface="楷体" panose="02010609060101010101" pitchFamily="49" charset="-122"/>
              </a:rPr>
              <a:t>Tushare</a:t>
            </a:r>
            <a:r>
              <a:rPr lang="zh-CN" altLang="en-US" dirty="0">
                <a:solidFill>
                  <a:srgbClr val="333333"/>
                </a:solidFill>
                <a:latin typeface="楷体" panose="02010609060101010101" pitchFamily="49" charset="-122"/>
                <a:ea typeface="楷体" panose="02010609060101010101" pitchFamily="49" charset="-122"/>
              </a:rPr>
              <a:t>创始人</a:t>
            </a:r>
            <a:endParaRPr lang="en-US" altLang="zh-CN" dirty="0">
              <a:solidFill>
                <a:srgbClr val="333333"/>
              </a:solidFill>
              <a:latin typeface="楷体" panose="02010609060101010101" pitchFamily="49" charset="-122"/>
              <a:ea typeface="楷体" panose="02010609060101010101" pitchFamily="49" charset="-122"/>
            </a:endParaRPr>
          </a:p>
        </p:txBody>
      </p:sp>
    </p:spTree>
    <p:extLst>
      <p:ext uri="{BB962C8B-B14F-4D97-AF65-F5344CB8AC3E}">
        <p14:creationId xmlns:p14="http://schemas.microsoft.com/office/powerpoint/2010/main" val="13041575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一些智能估值案例</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hlinkClick r:id="rId2"/>
              </a:rPr>
              <a:t>同花顺问财股票评估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hlinkClick r:id="rId3"/>
              </a:rPr>
              <a:t>搜房网房天下二手房评估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hlinkClick r:id="rId4"/>
              </a:rPr>
              <a:t>慢慢买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5"/>
              </a:rPr>
              <a:t>58</a:t>
            </a:r>
            <a:r>
              <a:rPr lang="zh-CN" altLang="en-US" sz="2400" dirty="0">
                <a:latin typeface="华文楷体" panose="02010600040101010101" pitchFamily="2" charset="-122"/>
                <a:ea typeface="华文楷体" panose="02010600040101010101" pitchFamily="2" charset="-122"/>
                <a:hlinkClick r:id="rId5"/>
              </a:rPr>
              <a:t>同城二手车</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6409842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编程语言的选择</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个人使用</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并用其作为后续授课使用语言（取数相对友好）</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333825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简介及简单使用</a:t>
            </a:r>
            <a:endParaRPr lang="en-US" altLang="zh-CN" sz="2400" dirty="0">
              <a:latin typeface="华文楷体" panose="02010600040101010101" pitchFamily="2" charset="-122"/>
              <a:ea typeface="华文楷体" panose="02010600040101010101" pitchFamily="2" charset="-122"/>
            </a:endParaRPr>
          </a:p>
          <a:p>
            <a:pPr marL="0" indent="0" algn="l">
              <a:buNone/>
            </a:pPr>
            <a:r>
              <a:rPr lang="en-US" altLang="zh-CN" sz="1600" b="0" i="0" dirty="0">
                <a:solidFill>
                  <a:srgbClr val="333333"/>
                </a:solidFill>
                <a:effectLst/>
                <a:latin typeface="Helvetica Neue"/>
              </a:rPr>
              <a:t>Python</a:t>
            </a:r>
            <a:r>
              <a:rPr lang="zh-CN" altLang="en-US" sz="1600" b="0" i="0" dirty="0">
                <a:solidFill>
                  <a:srgbClr val="333333"/>
                </a:solidFill>
                <a:effectLst/>
                <a:latin typeface="Helvetica Neue"/>
              </a:rPr>
              <a:t>由</a:t>
            </a:r>
            <a:r>
              <a:rPr lang="zh-CN" altLang="en-US" sz="1600" b="0" i="0" u="none" strike="noStrike" dirty="0">
                <a:solidFill>
                  <a:srgbClr val="136EC2"/>
                </a:solidFill>
                <a:effectLst/>
                <a:latin typeface="Helvetica Neue"/>
                <a:hlinkClick r:id="rId2"/>
              </a:rPr>
              <a:t>荷兰</a:t>
            </a:r>
            <a:r>
              <a:rPr lang="zh-CN" altLang="en-US" sz="1600" b="0" i="0" u="none" strike="noStrike" dirty="0">
                <a:solidFill>
                  <a:srgbClr val="136EC2"/>
                </a:solidFill>
                <a:effectLst/>
                <a:latin typeface="Helvetica Neue"/>
                <a:hlinkClick r:id="rId3"/>
              </a:rPr>
              <a:t>数学</a:t>
            </a:r>
            <a:r>
              <a:rPr lang="zh-CN" altLang="en-US" sz="1600" b="0" i="0" dirty="0">
                <a:solidFill>
                  <a:srgbClr val="333333"/>
                </a:solidFill>
                <a:effectLst/>
                <a:latin typeface="Helvetica Neue"/>
              </a:rPr>
              <a:t>和</a:t>
            </a:r>
            <a:r>
              <a:rPr lang="zh-CN" altLang="en-US" sz="1600" b="0" i="0" u="none" strike="noStrike" dirty="0">
                <a:solidFill>
                  <a:srgbClr val="136EC2"/>
                </a:solidFill>
                <a:effectLst/>
                <a:latin typeface="Helvetica Neue"/>
                <a:hlinkClick r:id="rId4"/>
              </a:rPr>
              <a:t>计算机科学</a:t>
            </a:r>
            <a:r>
              <a:rPr lang="zh-CN" altLang="en-US" sz="1600" b="0" i="0" dirty="0">
                <a:solidFill>
                  <a:srgbClr val="333333"/>
                </a:solidFill>
                <a:effectLst/>
                <a:latin typeface="Helvetica Neue"/>
              </a:rPr>
              <a:t>研究学会的</a:t>
            </a:r>
            <a:r>
              <a:rPr lang="zh-CN" altLang="en-US" sz="1600" b="0" i="0" u="none" strike="noStrike" dirty="0">
                <a:solidFill>
                  <a:srgbClr val="136EC2"/>
                </a:solidFill>
                <a:effectLst/>
                <a:latin typeface="Helvetica Neue"/>
                <a:hlinkClick r:id="rId5"/>
              </a:rPr>
              <a:t>吉多</a:t>
            </a:r>
            <a:r>
              <a:rPr lang="en-US" altLang="zh-CN" sz="1600" b="0" i="0" u="none" strike="noStrike" dirty="0">
                <a:solidFill>
                  <a:srgbClr val="136EC2"/>
                </a:solidFill>
                <a:effectLst/>
                <a:latin typeface="Helvetica Neue"/>
                <a:hlinkClick r:id="rId5"/>
              </a:rPr>
              <a:t>·</a:t>
            </a:r>
            <a:r>
              <a:rPr lang="zh-CN" altLang="en-US" sz="1600" b="0" i="0" u="none" strike="noStrike" dirty="0">
                <a:solidFill>
                  <a:srgbClr val="136EC2"/>
                </a:solidFill>
                <a:effectLst/>
                <a:latin typeface="Helvetica Neue"/>
                <a:hlinkClick r:id="rId5"/>
              </a:rPr>
              <a:t>范罗苏姆</a:t>
            </a:r>
            <a:r>
              <a:rPr lang="zh-CN" altLang="en-US" sz="1600" b="0" i="0" dirty="0">
                <a:solidFill>
                  <a:srgbClr val="333333"/>
                </a:solidFill>
                <a:effectLst/>
                <a:latin typeface="Helvetica Neue"/>
              </a:rPr>
              <a:t> 于</a:t>
            </a:r>
            <a:r>
              <a:rPr lang="en-US" altLang="zh-CN" sz="1600" b="0" i="0" dirty="0">
                <a:solidFill>
                  <a:srgbClr val="333333"/>
                </a:solidFill>
                <a:effectLst/>
                <a:latin typeface="Helvetica Neue"/>
              </a:rPr>
              <a:t>1990 </a:t>
            </a:r>
            <a:r>
              <a:rPr lang="zh-CN" altLang="en-US" sz="1600" b="0" i="0" dirty="0">
                <a:solidFill>
                  <a:srgbClr val="333333"/>
                </a:solidFill>
                <a:effectLst/>
                <a:latin typeface="Helvetica Neue"/>
              </a:rPr>
              <a:t>年代初设计，作为一门叫做</a:t>
            </a:r>
            <a:r>
              <a:rPr lang="en-US" altLang="zh-CN" sz="1600" b="0" i="0" u="none" strike="noStrike" dirty="0">
                <a:solidFill>
                  <a:srgbClr val="136EC2"/>
                </a:solidFill>
                <a:effectLst/>
                <a:latin typeface="Helvetica Neue"/>
                <a:hlinkClick r:id="rId6"/>
              </a:rPr>
              <a:t>ABC</a:t>
            </a:r>
            <a:r>
              <a:rPr lang="zh-CN" altLang="en-US" sz="1600" b="0" i="0" u="none" strike="noStrike" dirty="0">
                <a:solidFill>
                  <a:srgbClr val="136EC2"/>
                </a:solidFill>
                <a:effectLst/>
                <a:latin typeface="Helvetica Neue"/>
                <a:hlinkClick r:id="rId6"/>
              </a:rPr>
              <a:t>语言</a:t>
            </a:r>
            <a:r>
              <a:rPr lang="zh-CN" altLang="en-US" sz="1600" b="0" i="0" dirty="0">
                <a:solidFill>
                  <a:srgbClr val="333333"/>
                </a:solidFill>
                <a:effectLst/>
                <a:latin typeface="Helvetica Neue"/>
              </a:rPr>
              <a:t>的替代品。</a:t>
            </a:r>
            <a:r>
              <a:rPr lang="zh-CN" altLang="en-US" sz="1600" b="0" i="0" baseline="30000" dirty="0">
                <a:solidFill>
                  <a:srgbClr val="3366CC"/>
                </a:solidFill>
                <a:effectLst/>
                <a:latin typeface="Helvetica Neue"/>
              </a:rPr>
              <a:t> </a:t>
            </a:r>
            <a:r>
              <a:rPr lang="en-US" altLang="zh-CN" sz="1600" b="0" i="0" baseline="30000" dirty="0">
                <a:solidFill>
                  <a:srgbClr val="3366CC"/>
                </a:solidFill>
                <a:effectLst/>
                <a:latin typeface="Helvetica Neue"/>
              </a:rPr>
              <a:t>[1]</a:t>
            </a:r>
            <a:r>
              <a:rPr lang="zh-CN" altLang="en-US" sz="1600" b="0" i="0" u="none" strike="noStrike" dirty="0">
                <a:solidFill>
                  <a:srgbClr val="136EC2"/>
                </a:solidFill>
                <a:effectLst/>
                <a:latin typeface="Helvetica Neue"/>
              </a:rPr>
              <a:t> </a:t>
            </a:r>
            <a:r>
              <a:rPr lang="en-US" altLang="zh-CN" sz="1600" b="0" i="0" dirty="0">
                <a:solidFill>
                  <a:srgbClr val="333333"/>
                </a:solidFill>
                <a:effectLst/>
                <a:latin typeface="Helvetica Neue"/>
              </a:rPr>
              <a:t>Python</a:t>
            </a:r>
            <a:r>
              <a:rPr lang="zh-CN" altLang="en-US" sz="1600" b="0" i="0" dirty="0">
                <a:solidFill>
                  <a:srgbClr val="333333"/>
                </a:solidFill>
                <a:effectLst/>
                <a:latin typeface="Helvetica Neue"/>
              </a:rPr>
              <a:t>提供了高效的高级</a:t>
            </a:r>
            <a:r>
              <a:rPr lang="zh-CN" altLang="en-US" sz="1600" b="0" i="0" u="none" strike="noStrike" dirty="0">
                <a:solidFill>
                  <a:srgbClr val="136EC2"/>
                </a:solidFill>
                <a:effectLst/>
                <a:latin typeface="Helvetica Neue"/>
                <a:hlinkClick r:id="rId7"/>
              </a:rPr>
              <a:t>数据结构</a:t>
            </a:r>
            <a:r>
              <a:rPr lang="zh-CN" altLang="en-US" sz="1600" b="0" i="0" dirty="0">
                <a:solidFill>
                  <a:srgbClr val="333333"/>
                </a:solidFill>
                <a:effectLst/>
                <a:latin typeface="Helvetica Neue"/>
              </a:rPr>
              <a:t>，还能简单有效地</a:t>
            </a:r>
            <a:r>
              <a:rPr lang="zh-CN" altLang="en-US" sz="1600" b="0" i="0" u="none" strike="noStrike" dirty="0">
                <a:solidFill>
                  <a:srgbClr val="136EC2"/>
                </a:solidFill>
                <a:effectLst/>
                <a:latin typeface="Helvetica Neue"/>
                <a:hlinkClick r:id="rId8"/>
              </a:rPr>
              <a:t>面向对象</a:t>
            </a:r>
            <a:r>
              <a:rPr lang="zh-CN" altLang="en-US" sz="1600" b="0" i="0" dirty="0">
                <a:solidFill>
                  <a:srgbClr val="333333"/>
                </a:solidFill>
                <a:effectLst/>
                <a:latin typeface="Helvetica Neue"/>
              </a:rPr>
              <a:t>编程。</a:t>
            </a:r>
            <a:r>
              <a:rPr lang="en-US" altLang="zh-CN" sz="1600" b="0" i="0" dirty="0">
                <a:solidFill>
                  <a:srgbClr val="333333"/>
                </a:solidFill>
                <a:effectLst/>
                <a:latin typeface="Helvetica Neue"/>
              </a:rPr>
              <a:t>Python</a:t>
            </a:r>
            <a:r>
              <a:rPr lang="zh-CN" altLang="en-US" sz="1600" b="0" i="0" dirty="0">
                <a:solidFill>
                  <a:srgbClr val="333333"/>
                </a:solidFill>
                <a:effectLst/>
                <a:latin typeface="Helvetica Neue"/>
              </a:rPr>
              <a:t>语法和动态类型，以及</a:t>
            </a:r>
            <a:r>
              <a:rPr lang="zh-CN" altLang="en-US" sz="1600" b="0" i="0" u="none" strike="noStrike" dirty="0">
                <a:solidFill>
                  <a:srgbClr val="136EC2"/>
                </a:solidFill>
                <a:effectLst/>
                <a:latin typeface="Helvetica Neue"/>
                <a:hlinkClick r:id="rId9"/>
              </a:rPr>
              <a:t>解释型语言</a:t>
            </a:r>
            <a:r>
              <a:rPr lang="zh-CN" altLang="en-US" sz="1600" b="0" i="0" dirty="0">
                <a:solidFill>
                  <a:srgbClr val="333333"/>
                </a:solidFill>
                <a:effectLst/>
                <a:latin typeface="Helvetica Neue"/>
              </a:rPr>
              <a:t>的本质，使它由于历史和文化上的原因，</a:t>
            </a:r>
            <a:r>
              <a:rPr lang="en-US" altLang="zh-CN" sz="1600" b="0" i="0" dirty="0">
                <a:solidFill>
                  <a:srgbClr val="333333"/>
                </a:solidFill>
                <a:effectLst/>
                <a:latin typeface="Helvetica Neue"/>
              </a:rPr>
              <a:t>Python</a:t>
            </a:r>
            <a:r>
              <a:rPr lang="zh-CN" altLang="en-US" sz="1600" b="0" i="0" dirty="0">
                <a:solidFill>
                  <a:srgbClr val="333333"/>
                </a:solidFill>
                <a:effectLst/>
                <a:latin typeface="Helvetica Neue"/>
              </a:rPr>
              <a:t>发展出了一个大型、活跃的科学计算及数据分析社区。在过去十年里，</a:t>
            </a:r>
            <a:r>
              <a:rPr lang="en-US" altLang="zh-CN" sz="1600" b="0" i="0" dirty="0">
                <a:solidFill>
                  <a:srgbClr val="333333"/>
                </a:solidFill>
                <a:effectLst/>
                <a:latin typeface="Helvetica Neue"/>
              </a:rPr>
              <a:t>Python</a:t>
            </a:r>
            <a:r>
              <a:rPr lang="zh-CN" altLang="en-US" sz="1600" b="0" i="0" dirty="0">
                <a:solidFill>
                  <a:srgbClr val="333333"/>
                </a:solidFill>
                <a:effectLst/>
                <a:latin typeface="Helvetica Neue"/>
              </a:rPr>
              <a:t>已经从一个最前沿或者说“后果自负”的科学计算语言，成为数据科学、机器学习和学术</a:t>
            </a:r>
            <a:r>
              <a:rPr lang="en-US" altLang="zh-CN" sz="1600" b="0" i="0" dirty="0">
                <a:solidFill>
                  <a:srgbClr val="333333"/>
                </a:solidFill>
                <a:effectLst/>
                <a:latin typeface="Helvetica Neue"/>
              </a:rPr>
              <a:t>/</a:t>
            </a:r>
            <a:r>
              <a:rPr lang="zh-CN" altLang="en-US" sz="1600" b="0" i="0" dirty="0">
                <a:solidFill>
                  <a:srgbClr val="333333"/>
                </a:solidFill>
                <a:effectLst/>
                <a:latin typeface="Helvetica Neue"/>
              </a:rPr>
              <a:t>工业界通用软件开发等领域最为重要的语言之一</a:t>
            </a:r>
            <a:r>
              <a:rPr lang="zh-CN" altLang="en-US" sz="1600" b="0" i="0" baseline="30000" dirty="0">
                <a:solidFill>
                  <a:srgbClr val="3366CC"/>
                </a:solidFill>
                <a:effectLst/>
                <a:latin typeface="Helvetica Neue"/>
              </a:rPr>
              <a:t> </a:t>
            </a:r>
            <a:endParaRPr lang="zh-CN" altLang="en-US" sz="1600" b="0" i="0" dirty="0">
              <a:solidFill>
                <a:srgbClr val="333333"/>
              </a:solidFill>
              <a:effectLst/>
              <a:latin typeface="Helvetica Neue"/>
            </a:endParaRPr>
          </a:p>
          <a:p>
            <a:pPr marL="0" indent="0" algn="l">
              <a:buNone/>
            </a:pPr>
            <a:r>
              <a:rPr lang="en-US" altLang="zh-CN" sz="1600" b="0" i="0" dirty="0">
                <a:solidFill>
                  <a:srgbClr val="333333"/>
                </a:solidFill>
                <a:effectLst/>
                <a:latin typeface="Helvetica Neue"/>
              </a:rPr>
              <a:t>Python</a:t>
            </a:r>
            <a:r>
              <a:rPr lang="zh-CN" altLang="en-US" sz="1600" b="0" i="0" dirty="0">
                <a:solidFill>
                  <a:srgbClr val="333333"/>
                </a:solidFill>
                <a:effectLst/>
                <a:latin typeface="Helvetica Neue"/>
              </a:rPr>
              <a:t>具有简单易学、开源、解释性、面向对象、可扩展性和丰富的支撑库等特点，其应用也非常广泛，包括用于科学计算、数据处理与分析、图形图像与文本处理、数据库与网络编程、网络爬虫、机器学习、多媒体应用、图形用户界面、系统开发等。</a:t>
            </a:r>
            <a:endParaRPr lang="en-US" altLang="zh-CN" sz="1600" baseline="30000" dirty="0">
              <a:solidFill>
                <a:srgbClr val="3366CC"/>
              </a:solidFill>
              <a:latin typeface="Helvetica Neue"/>
            </a:endParaRPr>
          </a:p>
          <a:p>
            <a:pPr marL="0" indent="0" algn="l">
              <a:buNone/>
            </a:pPr>
            <a:r>
              <a:rPr lang="zh-CN" altLang="en-US" sz="1600" b="0" i="0" dirty="0">
                <a:solidFill>
                  <a:srgbClr val="333333"/>
                </a:solidFill>
                <a:effectLst/>
                <a:latin typeface="Helvetica Neue"/>
              </a:rPr>
              <a:t>核心：开源、积木式、高扩展性</a:t>
            </a: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3887339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7B08CC7A-7B7F-412E-A576-DEFB36A630C4}"/>
              </a:ext>
            </a:extLst>
          </p:cNvPr>
          <p:cNvPicPr>
            <a:picLocks noChangeAspect="1"/>
          </p:cNvPicPr>
          <p:nvPr/>
        </p:nvPicPr>
        <p:blipFill>
          <a:blip r:embed="rId2"/>
          <a:stretch>
            <a:fillRect/>
          </a:stretch>
        </p:blipFill>
        <p:spPr>
          <a:xfrm>
            <a:off x="838200" y="273827"/>
            <a:ext cx="9104762" cy="6219048"/>
          </a:xfrm>
          <a:prstGeom prst="rect">
            <a:avLst/>
          </a:prstGeom>
        </p:spPr>
      </p:pic>
    </p:spTree>
    <p:extLst>
      <p:ext uri="{BB962C8B-B14F-4D97-AF65-F5344CB8AC3E}">
        <p14:creationId xmlns:p14="http://schemas.microsoft.com/office/powerpoint/2010/main" val="10681361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智能化设计</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编程语言的选择</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6" name="图片 5">
            <a:extLst>
              <a:ext uri="{FF2B5EF4-FFF2-40B4-BE49-F238E27FC236}">
                <a16:creationId xmlns:a16="http://schemas.microsoft.com/office/drawing/2014/main" id="{79A1437A-46DC-4134-B8FF-A1FDE745E775}"/>
              </a:ext>
            </a:extLst>
          </p:cNvPr>
          <p:cNvPicPr>
            <a:picLocks noChangeAspect="1"/>
          </p:cNvPicPr>
          <p:nvPr/>
        </p:nvPicPr>
        <p:blipFill>
          <a:blip r:embed="rId2"/>
          <a:stretch>
            <a:fillRect/>
          </a:stretch>
        </p:blipFill>
        <p:spPr>
          <a:xfrm>
            <a:off x="920299" y="615648"/>
            <a:ext cx="9780952" cy="5190476"/>
          </a:xfrm>
          <a:prstGeom prst="rect">
            <a:avLst/>
          </a:prstGeom>
        </p:spPr>
      </p:pic>
    </p:spTree>
    <p:extLst>
      <p:ext uri="{BB962C8B-B14F-4D97-AF65-F5344CB8AC3E}">
        <p14:creationId xmlns:p14="http://schemas.microsoft.com/office/powerpoint/2010/main" val="6226097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2"/>
              </a:rPr>
              <a:t>XKCD</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B01FFD29-3795-48CF-ADE7-7E17A137DD33}"/>
              </a:ext>
            </a:extLst>
          </p:cNvPr>
          <p:cNvPicPr>
            <a:picLocks noChangeAspect="1"/>
          </p:cNvPicPr>
          <p:nvPr/>
        </p:nvPicPr>
        <p:blipFill>
          <a:blip r:embed="rId3"/>
          <a:stretch>
            <a:fillRect/>
          </a:stretch>
        </p:blipFill>
        <p:spPr>
          <a:xfrm>
            <a:off x="5820467" y="371857"/>
            <a:ext cx="5533333" cy="6114286"/>
          </a:xfrm>
          <a:prstGeom prst="rect">
            <a:avLst/>
          </a:prstGeom>
        </p:spPr>
      </p:pic>
    </p:spTree>
    <p:extLst>
      <p:ext uri="{BB962C8B-B14F-4D97-AF65-F5344CB8AC3E}">
        <p14:creationId xmlns:p14="http://schemas.microsoft.com/office/powerpoint/2010/main" val="5909107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简介及简单使用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这里介绍一种非常方便的安装方法</a:t>
            </a:r>
            <a:r>
              <a:rPr lang="en-US" altLang="zh-CN" sz="2400" dirty="0">
                <a:latin typeface="华文楷体" panose="02010600040101010101" pitchFamily="2" charset="-122"/>
                <a:ea typeface="华文楷体" panose="02010600040101010101" pitchFamily="2" charset="-122"/>
              </a:rPr>
              <a:t>——Anaconda</a:t>
            </a:r>
            <a:r>
              <a:rPr lang="zh-CN" altLang="en-US" sz="2400" dirty="0">
                <a:latin typeface="华文楷体" panose="02010600040101010101" pitchFamily="2" charset="-122"/>
                <a:ea typeface="华文楷体" panose="02010600040101010101" pitchFamily="2" charset="-122"/>
              </a:rPr>
              <a:t>安装。</a:t>
            </a:r>
            <a:r>
              <a:rPr lang="en-US" altLang="zh-CN" sz="2400" dirty="0">
                <a:latin typeface="华文楷体" panose="02010600040101010101" pitchFamily="2" charset="-122"/>
                <a:ea typeface="华文楷体" panose="02010600040101010101" pitchFamily="2" charset="-122"/>
              </a:rPr>
              <a:t>Anaconda</a:t>
            </a:r>
            <a:r>
              <a:rPr lang="zh-CN" altLang="en-US" sz="2400" dirty="0">
                <a:latin typeface="华文楷体" panose="02010600040101010101" pitchFamily="2" charset="-122"/>
                <a:ea typeface="华文楷体" panose="02010600040101010101" pitchFamily="2" charset="-122"/>
              </a:rPr>
              <a:t>是</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的一个发行版本，安装好了</a:t>
            </a:r>
            <a:r>
              <a:rPr lang="en-US" altLang="zh-CN" sz="2400" dirty="0">
                <a:latin typeface="华文楷体" panose="02010600040101010101" pitchFamily="2" charset="-122"/>
                <a:ea typeface="华文楷体" panose="02010600040101010101" pitchFamily="2" charset="-122"/>
              </a:rPr>
              <a:t>Anaconda</a:t>
            </a:r>
            <a:r>
              <a:rPr lang="zh-CN" altLang="en-US" sz="2400" dirty="0">
                <a:latin typeface="华文楷体" panose="02010600040101010101" pitchFamily="2" charset="-122"/>
                <a:ea typeface="华文楷体" panose="02010600040101010101" pitchFamily="2" charset="-122"/>
              </a:rPr>
              <a:t>就相当于安装好了</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，并且里面还集成了很多关于</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科学计算的第三方库。在浏览器中打开</a:t>
            </a:r>
            <a:r>
              <a:rPr lang="en-US" altLang="zh-CN" sz="2400" dirty="0">
                <a:latin typeface="华文楷体" panose="02010600040101010101" pitchFamily="2" charset="-122"/>
                <a:ea typeface="华文楷体" panose="02010600040101010101" pitchFamily="2" charset="-122"/>
              </a:rPr>
              <a:t>Anaconda</a:t>
            </a:r>
            <a:r>
              <a:rPr lang="zh-CN" altLang="en-US" sz="2400" dirty="0">
                <a:latin typeface="华文楷体" panose="02010600040101010101" pitchFamily="2" charset="-122"/>
                <a:ea typeface="华文楷体" panose="02010600040101010101" pitchFamily="2" charset="-122"/>
              </a:rPr>
              <a:t>的官网下载地址：</a:t>
            </a:r>
            <a:r>
              <a:rPr lang="en-US" altLang="zh-CN" sz="2400" dirty="0">
                <a:latin typeface="华文楷体" panose="02010600040101010101" pitchFamily="2" charset="-122"/>
                <a:ea typeface="华文楷体" panose="02010600040101010101" pitchFamily="2" charset="-122"/>
              </a:rPr>
              <a:t>https://www.anaconda.com/download/</a:t>
            </a:r>
            <a:r>
              <a:rPr lang="zh-CN" altLang="en-US" sz="2400" dirty="0">
                <a:latin typeface="华文楷体" panose="02010600040101010101" pitchFamily="2" charset="-122"/>
                <a:ea typeface="华文楷体" panose="02010600040101010101" pitchFamily="2" charset="-122"/>
              </a:rPr>
              <a:t>，或者在搜索引擎中搜索</a:t>
            </a:r>
            <a:r>
              <a:rPr lang="en-US" altLang="zh-CN" sz="2400" dirty="0">
                <a:latin typeface="华文楷体" panose="02010600040101010101" pitchFamily="2" charset="-122"/>
                <a:ea typeface="华文楷体" panose="02010600040101010101" pitchFamily="2" charset="-122"/>
              </a:rPr>
              <a:t>Anaconda</a:t>
            </a:r>
            <a:r>
              <a:rPr lang="zh-CN" altLang="en-US" sz="2400" dirty="0">
                <a:latin typeface="华文楷体" panose="02010600040101010101" pitchFamily="2" charset="-122"/>
                <a:ea typeface="华文楷体" panose="02010600040101010101" pitchFamily="2" charset="-122"/>
              </a:rPr>
              <a:t>，进入官网，根据当前操作系统配置选择相应的版本下载即可。</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9228743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简介及简单使用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开发环境众多，不同的开发环境其配置难度与复杂度也不尽相同。</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介绍一种简便安装法</a:t>
            </a:r>
            <a:r>
              <a:rPr lang="en-US" altLang="zh-CN" sz="2400" dirty="0">
                <a:latin typeface="华文楷体" panose="02010600040101010101" pitchFamily="2" charset="-122"/>
                <a:ea typeface="华文楷体" panose="02010600040101010101" pitchFamily="2" charset="-122"/>
              </a:rPr>
              <a:t>-Anaconda</a:t>
            </a:r>
            <a:r>
              <a:rPr lang="zh-CN" altLang="en-US" sz="2400" dirty="0">
                <a:latin typeface="华文楷体" panose="02010600040101010101" pitchFamily="2" charset="-122"/>
                <a:ea typeface="华文楷体" panose="02010600040101010101" pitchFamily="2" charset="-122"/>
              </a:rPr>
              <a:t>整合包。</a:t>
            </a:r>
            <a:r>
              <a:rPr lang="en-US" altLang="zh-CN" sz="2400" dirty="0">
                <a:latin typeface="华文楷体" panose="02010600040101010101" pitchFamily="2" charset="-122"/>
                <a:ea typeface="华文楷体" panose="02010600040101010101" pitchFamily="2" charset="-122"/>
              </a:rPr>
              <a:t>Anaconda</a:t>
            </a:r>
            <a:r>
              <a:rPr lang="zh-CN" altLang="en-US" sz="2400" dirty="0">
                <a:latin typeface="华文楷体" panose="02010600040101010101" pitchFamily="2" charset="-122"/>
                <a:ea typeface="华文楷体" panose="02010600040101010101" pitchFamily="2" charset="-122"/>
              </a:rPr>
              <a:t>是</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的一个发行版本，里面集成了</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本体、部分种类的编译器和很多科学计算相关的第三方库。官网下载地址：</a:t>
            </a:r>
            <a:r>
              <a:rPr lang="en-US" altLang="zh-CN" sz="2400" dirty="0">
                <a:latin typeface="华文楷体" panose="02010600040101010101" pitchFamily="2" charset="-122"/>
                <a:ea typeface="华文楷体" panose="02010600040101010101" pitchFamily="2" charset="-122"/>
              </a:rPr>
              <a:t>https://www.anaconda.com/download/</a:t>
            </a:r>
            <a:r>
              <a:rPr lang="zh-CN" altLang="en-US" sz="2400" dirty="0">
                <a:latin typeface="华文楷体" panose="02010600040101010101" pitchFamily="2" charset="-122"/>
                <a:ea typeface="华文楷体" panose="02010600040101010101" pitchFamily="2" charset="-122"/>
              </a:rPr>
              <a:t>，根据当前操作系统配置选择相应的版本下载即可。</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9558989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简介及简单使用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为了省略虚拟环境部分介绍，建议安装时勾选上面设置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6" name="图片 5">
            <a:extLst>
              <a:ext uri="{FF2B5EF4-FFF2-40B4-BE49-F238E27FC236}">
                <a16:creationId xmlns:a16="http://schemas.microsoft.com/office/drawing/2014/main" id="{ED49975D-6CAC-40C1-8FEB-133241C57F95}"/>
              </a:ext>
            </a:extLst>
          </p:cNvPr>
          <p:cNvPicPr>
            <a:picLocks noChangeAspect="1"/>
          </p:cNvPicPr>
          <p:nvPr/>
        </p:nvPicPr>
        <p:blipFill>
          <a:blip r:embed="rId2"/>
          <a:stretch>
            <a:fillRect/>
          </a:stretch>
        </p:blipFill>
        <p:spPr>
          <a:xfrm>
            <a:off x="2491530" y="2743112"/>
            <a:ext cx="7063904" cy="4052305"/>
          </a:xfrm>
          <a:prstGeom prst="rect">
            <a:avLst/>
          </a:prstGeom>
        </p:spPr>
      </p:pic>
    </p:spTree>
    <p:extLst>
      <p:ext uri="{BB962C8B-B14F-4D97-AF65-F5344CB8AC3E}">
        <p14:creationId xmlns:p14="http://schemas.microsoft.com/office/powerpoint/2010/main" val="10570226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简介及简单使用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现在，让我们来确定所有设置是否都正确。点击开始菜单，选择命令提示符或输入</a:t>
            </a:r>
            <a:r>
              <a:rPr lang="en-US" altLang="zh-CN" sz="2400" dirty="0" err="1">
                <a:latin typeface="华文楷体" panose="02010600040101010101" pitchFamily="2" charset="-122"/>
                <a:ea typeface="华文楷体" panose="02010600040101010101" pitchFamily="2" charset="-122"/>
              </a:rPr>
              <a:t>cmd</a:t>
            </a:r>
            <a:r>
              <a:rPr lang="zh-CN" altLang="en-US" sz="2400" dirty="0">
                <a:latin typeface="华文楷体" panose="02010600040101010101" pitchFamily="2" charset="-122"/>
                <a:ea typeface="华文楷体" panose="02010600040101010101" pitchFamily="2" charset="-122"/>
              </a:rPr>
              <a:t>。通过输入</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来启动</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解释器。你应该可以看到符合你下载的</a:t>
            </a:r>
            <a:r>
              <a:rPr lang="en-US" altLang="zh-CN" sz="2400" dirty="0">
                <a:latin typeface="华文楷体" panose="02010600040101010101" pitchFamily="2" charset="-122"/>
                <a:ea typeface="华文楷体" panose="02010600040101010101" pitchFamily="2" charset="-122"/>
              </a:rPr>
              <a:t>Anaconda</a:t>
            </a:r>
            <a:r>
              <a:rPr lang="zh-CN" altLang="en-US" sz="2400" dirty="0">
                <a:latin typeface="华文楷体" panose="02010600040101010101" pitchFamily="2" charset="-122"/>
                <a:ea typeface="华文楷体" panose="02010600040101010101" pitchFamily="2" charset="-122"/>
              </a:rPr>
              <a:t>版本的信息：</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732F6A16-72A8-469F-A651-C69E227B734F}"/>
              </a:ext>
            </a:extLst>
          </p:cNvPr>
          <p:cNvPicPr>
            <a:picLocks noChangeAspect="1"/>
          </p:cNvPicPr>
          <p:nvPr/>
        </p:nvPicPr>
        <p:blipFill>
          <a:blip r:embed="rId2"/>
          <a:stretch>
            <a:fillRect/>
          </a:stretch>
        </p:blipFill>
        <p:spPr>
          <a:xfrm>
            <a:off x="901962" y="3633812"/>
            <a:ext cx="9314286" cy="2476190"/>
          </a:xfrm>
          <a:prstGeom prst="rect">
            <a:avLst/>
          </a:prstGeom>
        </p:spPr>
      </p:pic>
    </p:spTree>
    <p:extLst>
      <p:ext uri="{BB962C8B-B14F-4D97-AF65-F5344CB8AC3E}">
        <p14:creationId xmlns:p14="http://schemas.microsoft.com/office/powerpoint/2010/main" val="42192599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简介及简单使用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为了方便教学</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课程中编译器使用：</a:t>
            </a:r>
            <a:r>
              <a:rPr lang="en-US" altLang="zh-CN" sz="2400" dirty="0" err="1">
                <a:latin typeface="华文楷体" panose="02010600040101010101" pitchFamily="2" charset="-122"/>
                <a:ea typeface="华文楷体" panose="02010600040101010101" pitchFamily="2" charset="-122"/>
              </a:rPr>
              <a:t>Jupyterlab</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这是一种交互式的文档类型，可以用于编写代码、文本（可以带标记）、数据可视化以及其他输出。</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的</a:t>
            </a:r>
            <a:r>
              <a:rPr lang="en-US" altLang="zh-CN" sz="2400" dirty="0" err="1">
                <a:latin typeface="华文楷体" panose="02010600040101010101" pitchFamily="2" charset="-122"/>
                <a:ea typeface="华文楷体" panose="02010600040101010101" pitchFamily="2" charset="-122"/>
              </a:rPr>
              <a:t>Jupyter</a:t>
            </a:r>
            <a:r>
              <a:rPr lang="zh-CN" altLang="en-US" sz="2400" dirty="0">
                <a:latin typeface="华文楷体" panose="02010600040101010101" pitchFamily="2" charset="-122"/>
                <a:ea typeface="华文楷体" panose="02010600040101010101" pitchFamily="2" charset="-122"/>
              </a:rPr>
              <a:t>内核使用</a:t>
            </a:r>
            <a:r>
              <a:rPr lang="en-US" altLang="zh-CN" sz="2400" dirty="0" err="1">
                <a:latin typeface="华文楷体" panose="02010600040101010101" pitchFamily="2" charset="-122"/>
                <a:ea typeface="华文楷体" panose="02010600040101010101" pitchFamily="2" charset="-122"/>
              </a:rPr>
              <a:t>Ipython</a:t>
            </a:r>
            <a:r>
              <a:rPr lang="zh-CN" altLang="en-US" sz="2400" dirty="0">
                <a:latin typeface="华文楷体" panose="02010600040101010101" pitchFamily="2" charset="-122"/>
                <a:ea typeface="华文楷体" panose="02010600040101010101" pitchFamily="2" charset="-122"/>
              </a:rPr>
              <a:t>系统进行内部活动。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其他主流编译器也可以自行检索使用。个人日常使用</a:t>
            </a:r>
            <a:r>
              <a:rPr lang="en-US" altLang="zh-CN" sz="2400" dirty="0" err="1">
                <a:latin typeface="华文楷体" panose="02010600040101010101" pitchFamily="2" charset="-122"/>
                <a:ea typeface="华文楷体" panose="02010600040101010101" pitchFamily="2" charset="-122"/>
              </a:rPr>
              <a:t>Jupyterlab+Atom</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需要启动</a:t>
            </a:r>
            <a:r>
              <a:rPr lang="en-US" altLang="zh-CN" sz="2400" dirty="0" err="1">
                <a:latin typeface="华文楷体" panose="02010600040101010101" pitchFamily="2" charset="-122"/>
                <a:ea typeface="华文楷体" panose="02010600040101010101" pitchFamily="2" charset="-122"/>
              </a:rPr>
              <a:t>Jupyter</a:t>
            </a:r>
            <a:r>
              <a:rPr lang="zh-CN" altLang="en-US" sz="2400" dirty="0">
                <a:latin typeface="华文楷体" panose="02010600040101010101" pitchFamily="2" charset="-122"/>
                <a:ea typeface="华文楷体" panose="02010600040101010101" pitchFamily="2" charset="-122"/>
              </a:rPr>
              <a:t>时，可以在此电脑</a:t>
            </a:r>
            <a:r>
              <a:rPr lang="en-US" altLang="zh-CN" sz="2400" dirty="0">
                <a:latin typeface="华文楷体" panose="02010600040101010101" pitchFamily="2" charset="-122"/>
                <a:ea typeface="华文楷体" panose="02010600040101010101" pitchFamily="2" charset="-122"/>
              </a:rPr>
              <a:t>-&gt;</a:t>
            </a:r>
            <a:r>
              <a:rPr lang="zh-CN" altLang="en-US" sz="2400" dirty="0">
                <a:latin typeface="华文楷体" panose="02010600040101010101" pitchFamily="2" charset="-122"/>
                <a:ea typeface="华文楷体" panose="02010600040101010101" pitchFamily="2" charset="-122"/>
              </a:rPr>
              <a:t>作业文件夹路径中输入</a:t>
            </a:r>
            <a:r>
              <a:rPr lang="en-US" altLang="zh-CN" sz="2400" dirty="0" err="1">
                <a:latin typeface="华文楷体" panose="02010600040101010101" pitchFamily="2" charset="-122"/>
                <a:ea typeface="华文楷体" panose="02010600040101010101" pitchFamily="2" charset="-122"/>
              </a:rPr>
              <a:t>cmd</a:t>
            </a:r>
            <a:r>
              <a:rPr lang="zh-CN" altLang="en-US" sz="2400" dirty="0">
                <a:latin typeface="华文楷体" panose="02010600040101010101" pitchFamily="2" charset="-122"/>
                <a:ea typeface="华文楷体" panose="02010600040101010101" pitchFamily="2" charset="-122"/>
              </a:rPr>
              <a:t>进入命令提示符并运行</a:t>
            </a:r>
            <a:r>
              <a:rPr lang="en-US" altLang="zh-CN" sz="2400" dirty="0">
                <a:latin typeface="华文楷体" panose="02010600040101010101" pitchFamily="2" charset="-122"/>
                <a:ea typeface="华文楷体" panose="02010600040101010101" pitchFamily="2" charset="-122"/>
              </a:rPr>
              <a:t>python –m </a:t>
            </a:r>
            <a:r>
              <a:rPr lang="en-US" altLang="zh-CN" sz="2400" dirty="0" err="1">
                <a:latin typeface="华文楷体" panose="02010600040101010101" pitchFamily="2" charset="-122"/>
                <a:ea typeface="华文楷体" panose="02010600040101010101" pitchFamily="2" charset="-122"/>
              </a:rPr>
              <a:t>jupyterlab</a:t>
            </a:r>
            <a:r>
              <a:rPr lang="zh-CN" altLang="en-US" sz="2400" dirty="0">
                <a:latin typeface="华文楷体" panose="02010600040101010101" pitchFamily="2" charset="-122"/>
                <a:ea typeface="华文楷体" panose="02010600040101010101" pitchFamily="2" charset="-122"/>
              </a:rPr>
              <a:t>命令：</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4534065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6" name="图片 5">
            <a:extLst>
              <a:ext uri="{FF2B5EF4-FFF2-40B4-BE49-F238E27FC236}">
                <a16:creationId xmlns:a16="http://schemas.microsoft.com/office/drawing/2014/main" id="{3EE799F5-02DD-4F8C-A1DE-2BEE05DE13BC}"/>
              </a:ext>
            </a:extLst>
          </p:cNvPr>
          <p:cNvPicPr>
            <a:picLocks noChangeAspect="1"/>
          </p:cNvPicPr>
          <p:nvPr/>
        </p:nvPicPr>
        <p:blipFill>
          <a:blip r:embed="rId2"/>
          <a:stretch>
            <a:fillRect/>
          </a:stretch>
        </p:blipFill>
        <p:spPr>
          <a:xfrm>
            <a:off x="1347713" y="1382917"/>
            <a:ext cx="9295238" cy="4914286"/>
          </a:xfrm>
          <a:prstGeom prst="rect">
            <a:avLst/>
          </a:prstGeom>
        </p:spPr>
      </p:pic>
    </p:spTree>
    <p:extLst>
      <p:ext uri="{BB962C8B-B14F-4D97-AF65-F5344CB8AC3E}">
        <p14:creationId xmlns:p14="http://schemas.microsoft.com/office/powerpoint/2010/main" val="2667443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E1C151A6-10F0-4839-BCD1-DC0DCDBAE4C0}"/>
              </a:ext>
            </a:extLst>
          </p:cNvPr>
          <p:cNvPicPr>
            <a:picLocks noChangeAspect="1"/>
          </p:cNvPicPr>
          <p:nvPr/>
        </p:nvPicPr>
        <p:blipFill>
          <a:blip r:embed="rId2"/>
          <a:stretch>
            <a:fillRect/>
          </a:stretch>
        </p:blipFill>
        <p:spPr>
          <a:xfrm>
            <a:off x="1459684" y="1384182"/>
            <a:ext cx="9303392" cy="5108693"/>
          </a:xfrm>
          <a:prstGeom prst="rect">
            <a:avLst/>
          </a:prstGeom>
        </p:spPr>
      </p:pic>
    </p:spTree>
    <p:extLst>
      <p:ext uri="{BB962C8B-B14F-4D97-AF65-F5344CB8AC3E}">
        <p14:creationId xmlns:p14="http://schemas.microsoft.com/office/powerpoint/2010/main" val="42933132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简介及简单使用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err="1">
                <a:latin typeface="华文楷体" panose="02010600040101010101" pitchFamily="2" charset="-122"/>
                <a:ea typeface="华文楷体" panose="02010600040101010101" pitchFamily="2" charset="-122"/>
              </a:rPr>
              <a:t>Jupyter</a:t>
            </a:r>
            <a:r>
              <a:rPr lang="en-US" altLang="zh-CN" sz="2400" dirty="0">
                <a:latin typeface="华文楷体" panose="02010600040101010101" pitchFamily="2" charset="-122"/>
                <a:ea typeface="华文楷体" panose="02010600040101010101" pitchFamily="2" charset="-122"/>
              </a:rPr>
              <a:t> lab</a:t>
            </a:r>
            <a:r>
              <a:rPr lang="zh-CN" altLang="en-US" sz="2400" dirty="0">
                <a:latin typeface="华文楷体" panose="02010600040101010101" pitchFamily="2" charset="-122"/>
                <a:ea typeface="华文楷体" panose="02010600040101010101" pitchFamily="2" charset="-122"/>
              </a:rPr>
              <a:t>文件后缀名为</a:t>
            </a:r>
            <a:r>
              <a:rPr lang="en-US" altLang="zh-CN" sz="2400" dirty="0">
                <a:latin typeface="华文楷体" panose="02010600040101010101" pitchFamily="2" charset="-122"/>
                <a:ea typeface="华文楷体" panose="02010600040101010101" pitchFamily="2" charset="-122"/>
              </a:rPr>
              <a:t>.</a:t>
            </a:r>
            <a:r>
              <a:rPr lang="en-US" altLang="zh-CN" sz="2400" dirty="0" err="1">
                <a:latin typeface="华文楷体" panose="02010600040101010101" pitchFamily="2" charset="-122"/>
                <a:ea typeface="华文楷体" panose="02010600040101010101" pitchFamily="2" charset="-122"/>
              </a:rPr>
              <a:t>ipynb</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与一般</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文件后缀名</a:t>
            </a:r>
            <a:r>
              <a:rPr lang="en-US" altLang="zh-CN" sz="2400" dirty="0">
                <a:latin typeface="华文楷体" panose="02010600040101010101" pitchFamily="2" charset="-122"/>
                <a:ea typeface="华文楷体" panose="02010600040101010101" pitchFamily="2" charset="-122"/>
              </a:rPr>
              <a:t>.</a:t>
            </a:r>
            <a:r>
              <a:rPr lang="en-US" altLang="zh-CN" sz="2400" dirty="0" err="1">
                <a:latin typeface="华文楷体" panose="02010600040101010101" pitchFamily="2" charset="-122"/>
                <a:ea typeface="华文楷体" panose="02010600040101010101" pitchFamily="2" charset="-122"/>
              </a:rPr>
              <a:t>py</a:t>
            </a:r>
            <a:r>
              <a:rPr lang="zh-CN" altLang="en-US" sz="2400" dirty="0">
                <a:latin typeface="华文楷体" panose="02010600040101010101" pitchFamily="2" charset="-122"/>
                <a:ea typeface="华文楷体" panose="02010600040101010101" pitchFamily="2" charset="-122"/>
              </a:rPr>
              <a:t>不同，如果要在其他编译器中使用需要选择</a:t>
            </a:r>
            <a:r>
              <a:rPr lang="en-US" altLang="zh-CN" sz="2400" dirty="0">
                <a:latin typeface="华文楷体" panose="02010600040101010101" pitchFamily="2" charset="-122"/>
                <a:ea typeface="华文楷体" panose="02010600040101010101" pitchFamily="2" charset="-122"/>
              </a:rPr>
              <a:t>file-&gt;Save and Export Notebook As-&gt;</a:t>
            </a:r>
            <a:r>
              <a:rPr lang="en-US" altLang="zh-CN" sz="2400" dirty="0" err="1">
                <a:latin typeface="华文楷体" panose="02010600040101010101" pitchFamily="2" charset="-122"/>
                <a:ea typeface="华文楷体" panose="02010600040101010101" pitchFamily="2" charset="-122"/>
              </a:rPr>
              <a:t>Excutable</a:t>
            </a:r>
            <a:r>
              <a:rPr lang="en-US" altLang="zh-CN" sz="2400" dirty="0">
                <a:latin typeface="华文楷体" panose="02010600040101010101" pitchFamily="2" charset="-122"/>
                <a:ea typeface="华文楷体" panose="02010600040101010101" pitchFamily="2" charset="-122"/>
              </a:rPr>
              <a:t> Script</a:t>
            </a:r>
            <a:r>
              <a:rPr lang="zh-CN" altLang="en-US" sz="2400" dirty="0">
                <a:latin typeface="华文楷体" panose="02010600040101010101" pitchFamily="2" charset="-122"/>
                <a:ea typeface="华文楷体" panose="02010600040101010101" pitchFamily="2" charset="-122"/>
              </a:rPr>
              <a:t>转化为</a:t>
            </a:r>
            <a:r>
              <a:rPr lang="en-US" altLang="zh-CN" sz="2400" dirty="0">
                <a:latin typeface="华文楷体" panose="02010600040101010101" pitchFamily="2" charset="-122"/>
                <a:ea typeface="华文楷体" panose="02010600040101010101" pitchFamily="2" charset="-122"/>
              </a:rPr>
              <a:t>.</a:t>
            </a:r>
            <a:r>
              <a:rPr lang="en-US" altLang="zh-CN" sz="2400" dirty="0" err="1">
                <a:latin typeface="华文楷体" panose="02010600040101010101" pitchFamily="2" charset="-122"/>
                <a:ea typeface="华文楷体" panose="02010600040101010101" pitchFamily="2" charset="-122"/>
              </a:rPr>
              <a:t>py</a:t>
            </a:r>
            <a:r>
              <a:rPr lang="zh-CN" altLang="en-US" sz="2400" dirty="0">
                <a:latin typeface="华文楷体" panose="02010600040101010101" pitchFamily="2" charset="-122"/>
                <a:ea typeface="华文楷体" panose="02010600040101010101" pitchFamily="2" charset="-122"/>
              </a:rPr>
              <a:t>文件</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简单程序演示</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40264383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简介及简单使用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示例程序</a:t>
            </a:r>
            <a:r>
              <a:rPr lang="en-US" altLang="zh-CN" sz="2400" dirty="0">
                <a:latin typeface="华文楷体" panose="02010600040101010101" pitchFamily="2" charset="-122"/>
                <a:ea typeface="华文楷体" panose="02010600040101010101" pitchFamily="2" charset="-122"/>
              </a:rPr>
              <a:t>0-</a:t>
            </a:r>
            <a:r>
              <a:rPr lang="zh-CN" altLang="en-US" sz="2400" dirty="0">
                <a:latin typeface="华文楷体" panose="02010600040101010101" pitchFamily="2" charset="-122"/>
                <a:ea typeface="华文楷体" panose="02010600040101010101" pitchFamily="2" charset="-122"/>
              </a:rPr>
              <a:t>课程使用</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知识简单教程</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42190677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时间原因，本课程只介绍课程相关部分的</a:t>
            </a: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基础知识</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Python</a:t>
            </a:r>
            <a:r>
              <a:rPr lang="zh-CN" altLang="en-US" sz="2400" dirty="0">
                <a:latin typeface="华文楷体" panose="02010600040101010101" pitchFamily="2" charset="-122"/>
                <a:ea typeface="华文楷体" panose="02010600040101010101" pitchFamily="2" charset="-122"/>
              </a:rPr>
              <a:t>学习延伸资源：</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2"/>
              </a:rPr>
              <a:t>Python</a:t>
            </a:r>
            <a:r>
              <a:rPr lang="zh-CN" altLang="en-US" sz="2400" dirty="0">
                <a:latin typeface="华文楷体" panose="02010600040101010101" pitchFamily="2" charset="-122"/>
                <a:ea typeface="华文楷体" panose="02010600040101010101" pitchFamily="2" charset="-122"/>
                <a:hlinkClick r:id="rId2"/>
              </a:rPr>
              <a:t>官方文档</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3"/>
              </a:rPr>
              <a:t>Python for everybody(</a:t>
            </a:r>
            <a:r>
              <a:rPr lang="zh-CN" altLang="en-US" sz="2400" dirty="0">
                <a:latin typeface="华文楷体" panose="02010600040101010101" pitchFamily="2" charset="-122"/>
                <a:ea typeface="华文楷体" panose="02010600040101010101" pitchFamily="2" charset="-122"/>
                <a:hlinkClick r:id="rId3"/>
              </a:rPr>
              <a:t>密西根大学</a:t>
            </a:r>
            <a:r>
              <a:rPr lang="en-US" altLang="zh-CN" sz="2400" dirty="0">
                <a:latin typeface="华文楷体" panose="02010600040101010101" pitchFamily="2" charset="-122"/>
                <a:ea typeface="华文楷体" panose="02010600040101010101" pitchFamily="2" charset="-122"/>
                <a:hlinkClick r:id="rId3"/>
              </a:rPr>
              <a:t>Chuck</a:t>
            </a:r>
            <a:r>
              <a:rPr lang="zh-CN" altLang="en-US" sz="2400" dirty="0">
                <a:latin typeface="华文楷体" panose="02010600040101010101" pitchFamily="2" charset="-122"/>
                <a:ea typeface="华文楷体" panose="02010600040101010101" pitchFamily="2" charset="-122"/>
                <a:hlinkClick r:id="rId3"/>
              </a:rPr>
              <a:t>教授的</a:t>
            </a:r>
            <a:r>
              <a:rPr lang="en-US" altLang="zh-CN" sz="2400" dirty="0">
                <a:latin typeface="华文楷体" panose="02010600040101010101" pitchFamily="2" charset="-122"/>
                <a:ea typeface="华文楷体" panose="02010600040101010101" pitchFamily="2" charset="-122"/>
                <a:hlinkClick r:id="rId3"/>
              </a:rPr>
              <a:t>Python</a:t>
            </a:r>
            <a:r>
              <a:rPr lang="zh-CN" altLang="en-US" sz="2400" dirty="0">
                <a:latin typeface="华文楷体" panose="02010600040101010101" pitchFamily="2" charset="-122"/>
                <a:ea typeface="华文楷体" panose="02010600040101010101" pitchFamily="2" charset="-122"/>
                <a:hlinkClick r:id="rId3"/>
              </a:rPr>
              <a:t>学习网站</a:t>
            </a:r>
            <a:r>
              <a:rPr lang="en-US" altLang="zh-CN" sz="2400" dirty="0">
                <a:latin typeface="华文楷体" panose="02010600040101010101" pitchFamily="2" charset="-122"/>
                <a:ea typeface="华文楷体" panose="02010600040101010101" pitchFamily="2" charset="-122"/>
                <a:hlinkClick r:id="rId3"/>
              </a:rPr>
              <a:t>)</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hlinkClick r:id="rId4"/>
              </a:rPr>
              <a:t>廖雪峰的</a:t>
            </a:r>
            <a:r>
              <a:rPr lang="en-US" altLang="zh-CN" sz="2400" dirty="0">
                <a:latin typeface="华文楷体" panose="02010600040101010101" pitchFamily="2" charset="-122"/>
                <a:ea typeface="华文楷体" panose="02010600040101010101" pitchFamily="2" charset="-122"/>
                <a:hlinkClick r:id="rId4"/>
              </a:rPr>
              <a:t>Python</a:t>
            </a:r>
            <a:r>
              <a:rPr lang="zh-CN" altLang="en-US" sz="2400" dirty="0">
                <a:latin typeface="华文楷体" panose="02010600040101010101" pitchFamily="2" charset="-122"/>
                <a:ea typeface="华文楷体" panose="02010600040101010101" pitchFamily="2" charset="-122"/>
                <a:hlinkClick r:id="rId4"/>
              </a:rPr>
              <a:t>教程</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5"/>
              </a:rPr>
              <a:t>W3school Python</a:t>
            </a:r>
            <a:r>
              <a:rPr lang="zh-CN" altLang="en-US" sz="2400" dirty="0">
                <a:latin typeface="华文楷体" panose="02010600040101010101" pitchFamily="2" charset="-122"/>
                <a:ea typeface="华文楷体" panose="02010600040101010101" pitchFamily="2" charset="-122"/>
                <a:hlinkClick r:id="rId5"/>
              </a:rPr>
              <a:t>部分</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38041987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一个估值系统的组成：</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分析计算部分</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前端呈现部分</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42918679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取数部分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传统做法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人工输入</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慢，错误较多，无法适应批量分析</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4075205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取数部分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1.</a:t>
            </a:r>
            <a:r>
              <a:rPr lang="zh-CN" altLang="en-US" sz="2400" dirty="0">
                <a:latin typeface="华文楷体" panose="02010600040101010101" pitchFamily="2" charset="-122"/>
                <a:ea typeface="华文楷体" panose="02010600040101010101" pitchFamily="2" charset="-122"/>
              </a:rPr>
              <a:t>接入数据库取数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25141275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接入数据库取数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9" name="图片 8">
            <a:extLst>
              <a:ext uri="{FF2B5EF4-FFF2-40B4-BE49-F238E27FC236}">
                <a16:creationId xmlns:a16="http://schemas.microsoft.com/office/drawing/2014/main" id="{52FC3838-16CD-4EAD-BC73-FBD886DDFF39}"/>
              </a:ext>
            </a:extLst>
          </p:cNvPr>
          <p:cNvPicPr>
            <a:picLocks noChangeAspect="1"/>
          </p:cNvPicPr>
          <p:nvPr/>
        </p:nvPicPr>
        <p:blipFill>
          <a:blip r:embed="rId2"/>
          <a:stretch>
            <a:fillRect/>
          </a:stretch>
        </p:blipFill>
        <p:spPr>
          <a:xfrm>
            <a:off x="0" y="84695"/>
            <a:ext cx="12192000" cy="6688609"/>
          </a:xfrm>
          <a:prstGeom prst="rect">
            <a:avLst/>
          </a:prstGeom>
        </p:spPr>
      </p:pic>
    </p:spTree>
    <p:extLst>
      <p:ext uri="{BB962C8B-B14F-4D97-AF65-F5344CB8AC3E}">
        <p14:creationId xmlns:p14="http://schemas.microsoft.com/office/powerpoint/2010/main" val="9673009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接入数据库取数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10" name="图片 9">
            <a:extLst>
              <a:ext uri="{FF2B5EF4-FFF2-40B4-BE49-F238E27FC236}">
                <a16:creationId xmlns:a16="http://schemas.microsoft.com/office/drawing/2014/main" id="{7B278C7A-0D54-43CC-A2D8-6CA8FCDFA39D}"/>
              </a:ext>
            </a:extLst>
          </p:cNvPr>
          <p:cNvPicPr>
            <a:picLocks noChangeAspect="1"/>
          </p:cNvPicPr>
          <p:nvPr/>
        </p:nvPicPr>
        <p:blipFill>
          <a:blip r:embed="rId2"/>
          <a:stretch>
            <a:fillRect/>
          </a:stretch>
        </p:blipFill>
        <p:spPr>
          <a:xfrm>
            <a:off x="0" y="100559"/>
            <a:ext cx="12192000" cy="6656881"/>
          </a:xfrm>
          <a:prstGeom prst="rect">
            <a:avLst/>
          </a:prstGeom>
        </p:spPr>
      </p:pic>
    </p:spTree>
    <p:extLst>
      <p:ext uri="{BB962C8B-B14F-4D97-AF65-F5344CB8AC3E}">
        <p14:creationId xmlns:p14="http://schemas.microsoft.com/office/powerpoint/2010/main" val="14087291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取数部分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个人使用开源数据库</a:t>
            </a:r>
            <a:r>
              <a:rPr lang="en-US" altLang="zh-CN" sz="2400" dirty="0" err="1">
                <a:latin typeface="华文楷体" panose="02010600040101010101" pitchFamily="2" charset="-122"/>
                <a:ea typeface="华文楷体" panose="02010600040101010101" pitchFamily="2" charset="-122"/>
              </a:rPr>
              <a:t>Tushare</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2"/>
              </a:rPr>
              <a:t>https://www.tushare.pro/</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介绍及演示</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示例程序</a:t>
            </a:r>
            <a:r>
              <a:rPr lang="en-US" altLang="zh-CN" sz="2400" dirty="0">
                <a:latin typeface="华文楷体" panose="02010600040101010101" pitchFamily="2" charset="-122"/>
                <a:ea typeface="华文楷体" panose="02010600040101010101" pitchFamily="2" charset="-122"/>
              </a:rPr>
              <a:t>1</a:t>
            </a:r>
            <a:r>
              <a:rPr lang="zh-CN" altLang="en-US" sz="2400" dirty="0">
                <a:latin typeface="华文楷体" panose="02010600040101010101" pitchFamily="2" charset="-122"/>
                <a:ea typeface="华文楷体" panose="02010600040101010101" pitchFamily="2" charset="-122"/>
              </a:rPr>
              <a:t>：</a:t>
            </a:r>
            <a:r>
              <a:rPr lang="en-US" altLang="zh-CN" sz="2400" dirty="0">
                <a:latin typeface="华文楷体" panose="02010600040101010101" pitchFamily="2" charset="-122"/>
                <a:ea typeface="华文楷体" panose="02010600040101010101" pitchFamily="2" charset="-122"/>
              </a:rPr>
              <a:t>A</a:t>
            </a:r>
            <a:r>
              <a:rPr lang="zh-CN" altLang="en-US" sz="2400" dirty="0">
                <a:latin typeface="华文楷体" panose="02010600040101010101" pitchFamily="2" charset="-122"/>
                <a:ea typeface="华文楷体" panose="02010600040101010101" pitchFamily="2" charset="-122"/>
              </a:rPr>
              <a:t>股财经数据获取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5124868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取数部分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2.</a:t>
            </a:r>
            <a:r>
              <a:rPr lang="zh-CN" altLang="en-US" sz="2400" dirty="0">
                <a:latin typeface="华文楷体" panose="02010600040101010101" pitchFamily="2" charset="-122"/>
                <a:ea typeface="华文楷体" panose="02010600040101010101" pitchFamily="2" charset="-122"/>
              </a:rPr>
              <a:t>互联网直接获取信息</a:t>
            </a:r>
            <a:r>
              <a:rPr lang="en-US" altLang="zh-CN" sz="2400" dirty="0">
                <a:latin typeface="华文楷体" panose="02010600040101010101" pitchFamily="2" charset="-122"/>
                <a:ea typeface="华文楷体" panose="02010600040101010101" pitchFamily="2" charset="-122"/>
              </a:rPr>
              <a:t>-Requests</a:t>
            </a:r>
            <a:r>
              <a:rPr lang="zh-CN" altLang="en-US" sz="2400" dirty="0">
                <a:latin typeface="华文楷体" panose="02010600040101010101" pitchFamily="2" charset="-122"/>
                <a:ea typeface="华文楷体" panose="02010600040101010101" pitchFamily="2" charset="-122"/>
              </a:rPr>
              <a:t>库</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https://docs.python-requests.org/zh_CN/latest/</a:t>
            </a:r>
          </a:p>
          <a:p>
            <a:pPr marL="0" indent="0">
              <a:lnSpc>
                <a:spcPct val="100000"/>
              </a:lnSpc>
              <a:spcBef>
                <a:spcPts val="600"/>
              </a:spcBef>
              <a:spcAft>
                <a:spcPts val="600"/>
              </a:spcAft>
              <a:buNone/>
            </a:pPr>
            <a:r>
              <a:rPr lang="en-US" altLang="zh-CN" sz="1600" b="0" i="0" dirty="0">
                <a:solidFill>
                  <a:srgbClr val="3E4349"/>
                </a:solidFill>
                <a:effectLst/>
                <a:latin typeface="Georgia" panose="02040502050405020303" pitchFamily="18" charset="0"/>
              </a:rPr>
              <a:t>Requests </a:t>
            </a:r>
            <a:r>
              <a:rPr lang="zh-CN" altLang="en-US" sz="1600" b="0" i="0" dirty="0">
                <a:solidFill>
                  <a:srgbClr val="3E4349"/>
                </a:solidFill>
                <a:effectLst/>
                <a:latin typeface="Georgia" panose="02040502050405020303" pitchFamily="18" charset="0"/>
              </a:rPr>
              <a:t>允许你发送</a:t>
            </a:r>
            <a:r>
              <a:rPr lang="zh-CN" altLang="en-US" sz="1600" b="1" i="0" dirty="0">
                <a:solidFill>
                  <a:srgbClr val="3E4349"/>
                </a:solidFill>
                <a:effectLst/>
                <a:latin typeface="Georgia" panose="02040502050405020303" pitchFamily="18" charset="0"/>
              </a:rPr>
              <a:t>纯天然，植物饲养</a:t>
            </a:r>
            <a:r>
              <a:rPr lang="zh-CN" altLang="en-US" sz="1600" b="0" i="0" dirty="0">
                <a:solidFill>
                  <a:srgbClr val="3E4349"/>
                </a:solidFill>
                <a:effectLst/>
                <a:latin typeface="Georgia" panose="02040502050405020303" pitchFamily="18" charset="0"/>
              </a:rPr>
              <a:t>的 </a:t>
            </a:r>
            <a:r>
              <a:rPr lang="en-US" altLang="zh-CN" sz="1600" b="0" i="0" dirty="0">
                <a:solidFill>
                  <a:srgbClr val="3E4349"/>
                </a:solidFill>
                <a:effectLst/>
                <a:latin typeface="Georgia" panose="02040502050405020303" pitchFamily="18" charset="0"/>
              </a:rPr>
              <a:t>HTTP/1.1 </a:t>
            </a:r>
            <a:r>
              <a:rPr lang="zh-CN" altLang="en-US" sz="1600" b="0" i="0" dirty="0">
                <a:solidFill>
                  <a:srgbClr val="3E4349"/>
                </a:solidFill>
                <a:effectLst/>
                <a:latin typeface="Georgia" panose="02040502050405020303" pitchFamily="18" charset="0"/>
              </a:rPr>
              <a:t>请求，无需手工劳动。你不需要手动为 </a:t>
            </a:r>
            <a:r>
              <a:rPr lang="en-US" altLang="zh-CN" sz="1600" b="0" i="0" dirty="0">
                <a:solidFill>
                  <a:srgbClr val="3E4349"/>
                </a:solidFill>
                <a:effectLst/>
                <a:latin typeface="Georgia" panose="02040502050405020303" pitchFamily="18" charset="0"/>
              </a:rPr>
              <a:t>URL </a:t>
            </a:r>
            <a:r>
              <a:rPr lang="zh-CN" altLang="en-US" sz="1600" b="0" i="0" dirty="0">
                <a:solidFill>
                  <a:srgbClr val="3E4349"/>
                </a:solidFill>
                <a:effectLst/>
                <a:latin typeface="Georgia" panose="02040502050405020303" pitchFamily="18" charset="0"/>
              </a:rPr>
              <a:t>添加查询字串，也不需要对 </a:t>
            </a:r>
            <a:r>
              <a:rPr lang="en-US" altLang="zh-CN" sz="1600" b="0" i="0" dirty="0">
                <a:solidFill>
                  <a:srgbClr val="3E4349"/>
                </a:solidFill>
                <a:effectLst/>
                <a:latin typeface="Georgia" panose="02040502050405020303" pitchFamily="18" charset="0"/>
              </a:rPr>
              <a:t>POST </a:t>
            </a:r>
            <a:r>
              <a:rPr lang="zh-CN" altLang="en-US" sz="1600" b="0" i="0" dirty="0">
                <a:solidFill>
                  <a:srgbClr val="3E4349"/>
                </a:solidFill>
                <a:effectLst/>
                <a:latin typeface="Georgia" panose="02040502050405020303" pitchFamily="18" charset="0"/>
              </a:rPr>
              <a:t>数据进行表单编码。</a:t>
            </a:r>
            <a:r>
              <a:rPr lang="en-US" altLang="zh-CN" sz="1600" b="0" i="0" dirty="0">
                <a:solidFill>
                  <a:srgbClr val="3E4349"/>
                </a:solidFill>
                <a:effectLst/>
                <a:latin typeface="Georgia" panose="02040502050405020303" pitchFamily="18" charset="0"/>
              </a:rPr>
              <a:t>Keep-alive </a:t>
            </a:r>
            <a:r>
              <a:rPr lang="zh-CN" altLang="en-US" sz="1600" b="0" i="0" dirty="0">
                <a:solidFill>
                  <a:srgbClr val="3E4349"/>
                </a:solidFill>
                <a:effectLst/>
                <a:latin typeface="Georgia" panose="02040502050405020303" pitchFamily="18" charset="0"/>
              </a:rPr>
              <a:t>和 </a:t>
            </a:r>
            <a:r>
              <a:rPr lang="en-US" altLang="zh-CN" sz="1600" b="0" i="0" dirty="0">
                <a:solidFill>
                  <a:srgbClr val="3E4349"/>
                </a:solidFill>
                <a:effectLst/>
                <a:latin typeface="Georgia" panose="02040502050405020303" pitchFamily="18" charset="0"/>
              </a:rPr>
              <a:t>HTTP </a:t>
            </a:r>
            <a:r>
              <a:rPr lang="zh-CN" altLang="en-US" sz="1600" b="0" i="0" dirty="0">
                <a:solidFill>
                  <a:srgbClr val="3E4349"/>
                </a:solidFill>
                <a:effectLst/>
                <a:latin typeface="Georgia" panose="02040502050405020303" pitchFamily="18" charset="0"/>
              </a:rPr>
              <a:t>连接池的功能是 </a:t>
            </a:r>
            <a:r>
              <a:rPr lang="en-US" altLang="zh-CN" sz="1600" b="0" i="0" dirty="0">
                <a:solidFill>
                  <a:srgbClr val="3E4349"/>
                </a:solidFill>
                <a:effectLst/>
                <a:latin typeface="Georgia" panose="02040502050405020303" pitchFamily="18" charset="0"/>
              </a:rPr>
              <a:t>100% </a:t>
            </a:r>
            <a:r>
              <a:rPr lang="zh-CN" altLang="en-US" sz="1600" b="0" i="0" dirty="0">
                <a:solidFill>
                  <a:srgbClr val="3E4349"/>
                </a:solidFill>
                <a:effectLst/>
                <a:latin typeface="Georgia" panose="02040502050405020303" pitchFamily="18" charset="0"/>
              </a:rPr>
              <a:t>自动化的，一切动力都来自于根植在 </a:t>
            </a:r>
            <a:r>
              <a:rPr lang="en-US" altLang="zh-CN" sz="1600" b="0" i="0" dirty="0">
                <a:solidFill>
                  <a:srgbClr val="3E4349"/>
                </a:solidFill>
                <a:effectLst/>
                <a:latin typeface="Georgia" panose="02040502050405020303" pitchFamily="18" charset="0"/>
              </a:rPr>
              <a:t>Requests </a:t>
            </a:r>
            <a:r>
              <a:rPr lang="zh-CN" altLang="en-US" sz="1600" b="0" i="0" dirty="0">
                <a:solidFill>
                  <a:srgbClr val="3E4349"/>
                </a:solidFill>
                <a:effectLst/>
                <a:latin typeface="Georgia" panose="02040502050405020303" pitchFamily="18" charset="0"/>
              </a:rPr>
              <a:t>内部的 </a:t>
            </a:r>
            <a:r>
              <a:rPr lang="en-US" altLang="zh-CN" sz="1600" b="0" i="0" u="none" strike="noStrike" dirty="0">
                <a:solidFill>
                  <a:srgbClr val="004B6B"/>
                </a:solidFill>
                <a:effectLst/>
                <a:latin typeface="Georgia" panose="02040502050405020303" pitchFamily="18" charset="0"/>
                <a:hlinkClick r:id="rId2"/>
              </a:rPr>
              <a:t>urllib3</a:t>
            </a:r>
            <a:r>
              <a:rPr lang="zh-CN" altLang="en-US" sz="1600" b="0" i="0" dirty="0">
                <a:solidFill>
                  <a:srgbClr val="3E4349"/>
                </a:solidFill>
                <a:effectLst/>
                <a:latin typeface="Georgia" panose="02040502050405020303" pitchFamily="18" charset="0"/>
              </a:rPr>
              <a:t>。</a:t>
            </a:r>
            <a:endParaRPr lang="en-US" altLang="zh-CN" sz="2400" b="0" i="0" dirty="0">
              <a:solidFill>
                <a:srgbClr val="3E4349"/>
              </a:solidFill>
              <a:effectLst/>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err="1">
                <a:latin typeface="华文楷体" panose="02010600040101010101" pitchFamily="2" charset="-122"/>
                <a:ea typeface="华文楷体" panose="02010600040101010101" pitchFamily="2" charset="-122"/>
              </a:rPr>
              <a:t>requests.get</a:t>
            </a:r>
            <a:r>
              <a:rPr lang="en-US" altLang="zh-CN" sz="2400" dirty="0">
                <a:latin typeface="华文楷体" panose="02010600040101010101" pitchFamily="2" charset="-122"/>
                <a:ea typeface="华文楷体" panose="02010600040101010101" pitchFamily="2" charset="-122"/>
              </a:rPr>
              <a:t>()</a:t>
            </a: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https://docs.python-requests.org/zh_CN/latest/user/quickstart.html</a:t>
            </a: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介绍及演示</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示例程序</a:t>
            </a:r>
            <a:r>
              <a:rPr lang="en-US" altLang="zh-CN" sz="2400" dirty="0">
                <a:latin typeface="华文楷体" panose="02010600040101010101" pitchFamily="2" charset="-122"/>
                <a:ea typeface="华文楷体" panose="02010600040101010101" pitchFamily="2" charset="-122"/>
              </a:rPr>
              <a:t>2</a:t>
            </a:r>
            <a:r>
              <a:rPr lang="zh-CN" altLang="en-US" sz="2400" dirty="0">
                <a:latin typeface="华文楷体" panose="02010600040101010101" pitchFamily="2" charset="-122"/>
                <a:ea typeface="华文楷体" panose="02010600040101010101" pitchFamily="2" charset="-122"/>
              </a:rPr>
              <a:t>：百度新闻上市公司名</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关键词咨询获取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4153334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取数部分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3.</a:t>
            </a:r>
            <a:r>
              <a:rPr lang="zh-CN" altLang="en-US" sz="2400" dirty="0">
                <a:latin typeface="华文楷体" panose="02010600040101010101" pitchFamily="2" charset="-122"/>
                <a:ea typeface="华文楷体" panose="02010600040101010101" pitchFamily="2" charset="-122"/>
              </a:rPr>
              <a:t>互联网直接获取信息</a:t>
            </a:r>
            <a:r>
              <a:rPr lang="en-US" altLang="zh-CN" sz="2400" dirty="0">
                <a:latin typeface="华文楷体" panose="02010600040101010101" pitchFamily="2" charset="-122"/>
                <a:ea typeface="华文楷体" panose="02010600040101010101" pitchFamily="2" charset="-122"/>
              </a:rPr>
              <a:t>-Selenium</a:t>
            </a:r>
            <a:r>
              <a:rPr lang="zh-CN" altLang="en-US" sz="2400" dirty="0">
                <a:latin typeface="华文楷体" panose="02010600040101010101" pitchFamily="2" charset="-122"/>
                <a:ea typeface="华文楷体" panose="02010600040101010101" pitchFamily="2" charset="-122"/>
              </a:rPr>
              <a:t>库</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hlinkClick r:id="rId2"/>
              </a:rPr>
              <a:t>https://www.selenium.dev/</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自动测试库，我们使用它的模拟浏览器操作功能</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介绍及演示</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示例程序</a:t>
            </a:r>
            <a:r>
              <a:rPr lang="en-US" altLang="zh-CN" sz="2400" dirty="0">
                <a:latin typeface="华文楷体" panose="02010600040101010101" pitchFamily="2" charset="-122"/>
                <a:ea typeface="华文楷体" panose="02010600040101010101" pitchFamily="2" charset="-122"/>
              </a:rPr>
              <a:t>3</a:t>
            </a:r>
            <a:r>
              <a:rPr lang="zh-CN" altLang="en-US" sz="2400" dirty="0">
                <a:latin typeface="华文楷体" panose="02010600040101010101" pitchFamily="2" charset="-122"/>
                <a:ea typeface="华文楷体" panose="02010600040101010101" pitchFamily="2" charset="-122"/>
              </a:rPr>
              <a:t>：可转债正股信息提取，巨潮资讯网评估说明获取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28090431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取数部分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取数部分智能化：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4.</a:t>
            </a:r>
            <a:r>
              <a:rPr lang="zh-CN" altLang="en-US" sz="2400" dirty="0">
                <a:latin typeface="华文楷体" panose="02010600040101010101" pitchFamily="2" charset="-122"/>
                <a:ea typeface="华文楷体" panose="02010600040101010101" pitchFamily="2" charset="-122"/>
              </a:rPr>
              <a:t>数据文件直接转换及分析</a:t>
            </a:r>
            <a:r>
              <a:rPr lang="en-US" altLang="zh-CN" sz="2400" dirty="0">
                <a:latin typeface="华文楷体" panose="02010600040101010101" pitchFamily="2" charset="-122"/>
                <a:ea typeface="华文楷体" panose="02010600040101010101" pitchFamily="2" charset="-122"/>
              </a:rPr>
              <a:t>:</a:t>
            </a: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示例程序</a:t>
            </a:r>
            <a:r>
              <a:rPr lang="en-US" altLang="zh-CN" sz="2400" dirty="0">
                <a:latin typeface="华文楷体" panose="02010600040101010101" pitchFamily="2" charset="-122"/>
                <a:ea typeface="华文楷体" panose="02010600040101010101" pitchFamily="2" charset="-122"/>
              </a:rPr>
              <a:t>4-1 Excel</a:t>
            </a:r>
            <a:r>
              <a:rPr lang="zh-CN" altLang="en-US" sz="2400" dirty="0">
                <a:latin typeface="华文楷体" panose="02010600040101010101" pitchFamily="2" charset="-122"/>
                <a:ea typeface="华文楷体" panose="02010600040101010101" pitchFamily="2" charset="-122"/>
              </a:rPr>
              <a:t>表格数据提取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示例程序</a:t>
            </a:r>
            <a:r>
              <a:rPr lang="en-US" altLang="zh-CN" sz="2400" dirty="0">
                <a:latin typeface="华文楷体" panose="02010600040101010101" pitchFamily="2" charset="-122"/>
                <a:ea typeface="华文楷体" panose="02010600040101010101" pitchFamily="2" charset="-122"/>
              </a:rPr>
              <a:t>4-2PDF</a:t>
            </a:r>
            <a:r>
              <a:rPr lang="zh-CN" altLang="en-US" sz="2400" dirty="0">
                <a:latin typeface="华文楷体" panose="02010600040101010101" pitchFamily="2" charset="-122"/>
                <a:ea typeface="华文楷体" panose="02010600040101010101" pitchFamily="2" charset="-122"/>
              </a:rPr>
              <a:t>文件分析</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16890583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常用的估值方法：</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资产基础法</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市场法</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收益法</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8017760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本质：对不同资产组成部分使用市场法和收益法的集合</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投资估值很少采用资产基础法结果，其智能化主要作为资产评估事项中资产基础法程序的辅助：</a:t>
            </a: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5675928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个人将资产基础法中涉及科目分为货币类科目和非货币类科目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货币类科目主要包括货币资金及往来款</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其估值相对程序化，主要来源是企业账套及对应原始凭证</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我们可以进行智能化的部分主要是对原始凭证进行扫描后进行的图片识别和函证的智能化生成</a:t>
            </a: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28718965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图片识别分析</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我们考虑借助百度智能平台的</a:t>
            </a:r>
            <a:r>
              <a:rPr lang="en-US" altLang="zh-CN" sz="2400" dirty="0" err="1">
                <a:latin typeface="华文楷体" panose="02010600040101010101" pitchFamily="2" charset="-122"/>
                <a:ea typeface="华文楷体" panose="02010600040101010101" pitchFamily="2" charset="-122"/>
              </a:rPr>
              <a:t>ocr</a:t>
            </a:r>
            <a:r>
              <a:rPr lang="zh-CN" altLang="en-US" sz="2400" dirty="0">
                <a:latin typeface="华文楷体" panose="02010600040101010101" pitchFamily="2" charset="-122"/>
                <a:ea typeface="华文楷体" panose="02010600040101010101" pitchFamily="2" charset="-122"/>
              </a:rPr>
              <a:t>识别</a:t>
            </a:r>
            <a:r>
              <a:rPr lang="en-US" altLang="zh-CN" sz="2400" dirty="0" err="1">
                <a:latin typeface="华文楷体" panose="02010600040101010101" pitchFamily="2" charset="-122"/>
                <a:ea typeface="华文楷体" panose="02010600040101010101" pitchFamily="2" charset="-122"/>
              </a:rPr>
              <a:t>api</a:t>
            </a:r>
            <a:r>
              <a:rPr lang="zh-CN" altLang="en-US" sz="2400" dirty="0">
                <a:latin typeface="华文楷体" panose="02010600040101010101" pitchFamily="2" charset="-122"/>
                <a:ea typeface="华文楷体" panose="02010600040101010101" pitchFamily="2" charset="-122"/>
              </a:rPr>
              <a:t>接口进行合同及对账单等文本识别、公章识别、财务票据识别实现部分智能化</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hlinkClick r:id="rId2"/>
              </a:rPr>
              <a:t>百度</a:t>
            </a:r>
            <a:r>
              <a:rPr lang="en-US" altLang="zh-CN" sz="2400" dirty="0">
                <a:latin typeface="华文楷体" panose="02010600040101010101" pitchFamily="2" charset="-122"/>
                <a:ea typeface="华文楷体" panose="02010600040101010101" pitchFamily="2" charset="-122"/>
                <a:hlinkClick r:id="rId2"/>
              </a:rPr>
              <a:t>AI</a:t>
            </a:r>
            <a:r>
              <a:rPr lang="zh-CN" altLang="en-US" sz="2400" dirty="0">
                <a:latin typeface="华文楷体" panose="02010600040101010101" pitchFamily="2" charset="-122"/>
                <a:ea typeface="华文楷体" panose="02010600040101010101" pitchFamily="2" charset="-122"/>
                <a:hlinkClick r:id="rId2"/>
              </a:rPr>
              <a:t>开放平台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进行简单注册</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6176780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hlinkClick r:id="rId2"/>
              </a:rPr>
              <a:t>文字识别功能控制台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选择领取免费资源</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1940B8A7-EC35-4722-A997-4519A6ADFCE8}"/>
              </a:ext>
            </a:extLst>
          </p:cNvPr>
          <p:cNvPicPr>
            <a:picLocks noChangeAspect="1"/>
          </p:cNvPicPr>
          <p:nvPr/>
        </p:nvPicPr>
        <p:blipFill>
          <a:blip r:embed="rId3"/>
          <a:stretch>
            <a:fillRect/>
          </a:stretch>
        </p:blipFill>
        <p:spPr>
          <a:xfrm>
            <a:off x="946278" y="3429000"/>
            <a:ext cx="4952381" cy="1990476"/>
          </a:xfrm>
          <a:prstGeom prst="rect">
            <a:avLst/>
          </a:prstGeom>
        </p:spPr>
      </p:pic>
    </p:spTree>
    <p:extLst>
      <p:ext uri="{BB962C8B-B14F-4D97-AF65-F5344CB8AC3E}">
        <p14:creationId xmlns:p14="http://schemas.microsoft.com/office/powerpoint/2010/main" val="13584000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领取需求的服务类型</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及接口类型</a:t>
            </a:r>
            <a:endParaRPr lang="en-US" altLang="zh-CN" sz="2400" dirty="0">
              <a:latin typeface="华文楷体" panose="02010600040101010101" pitchFamily="2" charset="-122"/>
              <a:ea typeface="华文楷体" panose="02010600040101010101" pitchFamily="2" charset="-122"/>
            </a:endParaRPr>
          </a:p>
        </p:txBody>
      </p:sp>
      <p:pic>
        <p:nvPicPr>
          <p:cNvPr id="8" name="图片 7">
            <a:extLst>
              <a:ext uri="{FF2B5EF4-FFF2-40B4-BE49-F238E27FC236}">
                <a16:creationId xmlns:a16="http://schemas.microsoft.com/office/drawing/2014/main" id="{7314D8AB-19F0-4C19-AFE7-687B8A9E9911}"/>
              </a:ext>
            </a:extLst>
          </p:cNvPr>
          <p:cNvPicPr>
            <a:picLocks noChangeAspect="1"/>
          </p:cNvPicPr>
          <p:nvPr/>
        </p:nvPicPr>
        <p:blipFill>
          <a:blip r:embed="rId2"/>
          <a:stretch>
            <a:fillRect/>
          </a:stretch>
        </p:blipFill>
        <p:spPr>
          <a:xfrm>
            <a:off x="5059680" y="1550126"/>
            <a:ext cx="6836229" cy="5105521"/>
          </a:xfrm>
          <a:prstGeom prst="rect">
            <a:avLst/>
          </a:prstGeom>
        </p:spPr>
      </p:pic>
    </p:spTree>
    <p:extLst>
      <p:ext uri="{BB962C8B-B14F-4D97-AF65-F5344CB8AC3E}">
        <p14:creationId xmlns:p14="http://schemas.microsoft.com/office/powerpoint/2010/main" val="256510847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hlinkClick r:id="rId2"/>
              </a:rPr>
              <a:t>文字识别功能控制台</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选择领取免费资源</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1940B8A7-EC35-4722-A997-4519A6ADFCE8}"/>
              </a:ext>
            </a:extLst>
          </p:cNvPr>
          <p:cNvPicPr>
            <a:picLocks noChangeAspect="1"/>
          </p:cNvPicPr>
          <p:nvPr/>
        </p:nvPicPr>
        <p:blipFill>
          <a:blip r:embed="rId3"/>
          <a:stretch>
            <a:fillRect/>
          </a:stretch>
        </p:blipFill>
        <p:spPr>
          <a:xfrm>
            <a:off x="946278" y="3429000"/>
            <a:ext cx="4952381" cy="1990476"/>
          </a:xfrm>
          <a:prstGeom prst="rect">
            <a:avLst/>
          </a:prstGeom>
        </p:spPr>
      </p:pic>
    </p:spTree>
    <p:extLst>
      <p:ext uri="{BB962C8B-B14F-4D97-AF65-F5344CB8AC3E}">
        <p14:creationId xmlns:p14="http://schemas.microsoft.com/office/powerpoint/2010/main" val="14794049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回之前页面创建应用，内容可任意输入</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endParaRPr lang="en-US" altLang="zh-CN" sz="2400" dirty="0">
              <a:latin typeface="华文楷体" panose="02010600040101010101" pitchFamily="2" charset="-122"/>
              <a:ea typeface="华文楷体" panose="02010600040101010101" pitchFamily="2" charset="-122"/>
            </a:endParaRPr>
          </a:p>
        </p:txBody>
      </p:sp>
      <p:pic>
        <p:nvPicPr>
          <p:cNvPr id="5" name="图片 4">
            <a:extLst>
              <a:ext uri="{FF2B5EF4-FFF2-40B4-BE49-F238E27FC236}">
                <a16:creationId xmlns:a16="http://schemas.microsoft.com/office/drawing/2014/main" id="{A76A92BE-A29B-4A87-8339-4E03026B6DCA}"/>
              </a:ext>
            </a:extLst>
          </p:cNvPr>
          <p:cNvPicPr>
            <a:picLocks noChangeAspect="1"/>
          </p:cNvPicPr>
          <p:nvPr/>
        </p:nvPicPr>
        <p:blipFill>
          <a:blip r:embed="rId2"/>
          <a:stretch>
            <a:fillRect/>
          </a:stretch>
        </p:blipFill>
        <p:spPr>
          <a:xfrm>
            <a:off x="903139" y="2893206"/>
            <a:ext cx="2704762" cy="3057143"/>
          </a:xfrm>
          <a:prstGeom prst="rect">
            <a:avLst/>
          </a:prstGeom>
        </p:spPr>
      </p:pic>
    </p:spTree>
    <p:extLst>
      <p:ext uri="{BB962C8B-B14F-4D97-AF65-F5344CB8AC3E}">
        <p14:creationId xmlns:p14="http://schemas.microsoft.com/office/powerpoint/2010/main" val="33486887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货币类科目</a:t>
            </a:r>
            <a:endParaRPr lang="en-US" altLang="zh-CN" sz="2400" dirty="0">
              <a:latin typeface="华文楷体" panose="02010600040101010101" pitchFamily="2" charset="-122"/>
              <a:ea typeface="华文楷体" panose="02010600040101010101" pitchFamily="2" charset="-122"/>
            </a:endParaRPr>
          </a:p>
          <a:p>
            <a:pPr>
              <a:lnSpc>
                <a:spcPct val="100000"/>
              </a:lnSpc>
              <a:spcBef>
                <a:spcPts val="600"/>
              </a:spcBef>
              <a:spcAft>
                <a:spcPts val="600"/>
              </a:spcAft>
            </a:pPr>
            <a:r>
              <a:rPr lang="zh-CN" altLang="en-US" sz="2400" dirty="0">
                <a:latin typeface="华文楷体" panose="02010600040101010101" pitchFamily="2" charset="-122"/>
                <a:ea typeface="华文楷体" panose="02010600040101010101" pitchFamily="2" charset="-122"/>
              </a:rPr>
              <a:t>点击应用列表，记住其中</a:t>
            </a:r>
            <a:r>
              <a:rPr lang="en-US" altLang="zh-CN" sz="2400" dirty="0">
                <a:latin typeface="华文楷体" panose="02010600040101010101" pitchFamily="2" charset="-122"/>
                <a:ea typeface="华文楷体" panose="02010600040101010101" pitchFamily="2" charset="-122"/>
              </a:rPr>
              <a:t>API Key</a:t>
            </a:r>
            <a:r>
              <a:rPr lang="zh-CN" altLang="en-US" sz="2400" dirty="0">
                <a:latin typeface="华文楷体" panose="02010600040101010101" pitchFamily="2" charset="-122"/>
                <a:ea typeface="华文楷体" panose="02010600040101010101" pitchFamily="2" charset="-122"/>
              </a:rPr>
              <a:t>和</a:t>
            </a:r>
            <a:r>
              <a:rPr lang="en-US" altLang="zh-CN" sz="2400" dirty="0">
                <a:latin typeface="华文楷体" panose="02010600040101010101" pitchFamily="2" charset="-122"/>
                <a:ea typeface="华文楷体" panose="02010600040101010101" pitchFamily="2" charset="-122"/>
              </a:rPr>
              <a:t>Secret Key</a:t>
            </a:r>
          </a:p>
        </p:txBody>
      </p:sp>
      <p:pic>
        <p:nvPicPr>
          <p:cNvPr id="6" name="图片 5">
            <a:extLst>
              <a:ext uri="{FF2B5EF4-FFF2-40B4-BE49-F238E27FC236}">
                <a16:creationId xmlns:a16="http://schemas.microsoft.com/office/drawing/2014/main" id="{F699A5FF-8E0E-4A10-BC12-88134FE1B862}"/>
              </a:ext>
            </a:extLst>
          </p:cNvPr>
          <p:cNvPicPr>
            <a:picLocks noChangeAspect="1"/>
          </p:cNvPicPr>
          <p:nvPr/>
        </p:nvPicPr>
        <p:blipFill>
          <a:blip r:embed="rId2"/>
          <a:stretch>
            <a:fillRect/>
          </a:stretch>
        </p:blipFill>
        <p:spPr>
          <a:xfrm>
            <a:off x="903139" y="3278297"/>
            <a:ext cx="10676190" cy="1761905"/>
          </a:xfrm>
          <a:prstGeom prst="rect">
            <a:avLst/>
          </a:prstGeom>
        </p:spPr>
      </p:pic>
    </p:spTree>
    <p:extLst>
      <p:ext uri="{BB962C8B-B14F-4D97-AF65-F5344CB8AC3E}">
        <p14:creationId xmlns:p14="http://schemas.microsoft.com/office/powerpoint/2010/main" val="95689930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示例程序</a:t>
            </a:r>
            <a:r>
              <a:rPr lang="en-US" altLang="zh-CN" sz="2400" dirty="0">
                <a:latin typeface="华文楷体" panose="02010600040101010101" pitchFamily="2" charset="-122"/>
                <a:ea typeface="华文楷体" panose="02010600040101010101" pitchFamily="2" charset="-122"/>
              </a:rPr>
              <a:t>5</a:t>
            </a:r>
            <a:r>
              <a:rPr lang="zh-CN" altLang="en-US" sz="2400" dirty="0">
                <a:latin typeface="华文楷体" panose="02010600040101010101" pitchFamily="2" charset="-122"/>
                <a:ea typeface="华文楷体" panose="02010600040101010101" pitchFamily="2" charset="-122"/>
              </a:rPr>
              <a:t>文本识别及智能票据识别</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203440942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函证智能生成在后面输出部分讲授</a:t>
            </a: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22995773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非货币类科目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本人非货币类科目的智能化主要思路为互联网获取对应资产价格并自动加权形成结果</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金融资产相关可使用</a:t>
            </a:r>
            <a:r>
              <a:rPr lang="en-US" altLang="zh-CN" sz="2400" dirty="0" err="1">
                <a:latin typeface="华文楷体" panose="02010600040101010101" pitchFamily="2" charset="-122"/>
                <a:ea typeface="华文楷体" panose="02010600040101010101" pitchFamily="2" charset="-122"/>
              </a:rPr>
              <a:t>Tushare</a:t>
            </a:r>
            <a:r>
              <a:rPr lang="zh-CN" altLang="en-US" sz="2400" dirty="0">
                <a:latin typeface="华文楷体" panose="02010600040101010101" pitchFamily="2" charset="-122"/>
                <a:ea typeface="华文楷体" panose="02010600040101010101" pitchFamily="2" charset="-122"/>
              </a:rPr>
              <a:t>库批量查询对应金融资产基准日价格</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示例程序</a:t>
            </a:r>
            <a:r>
              <a:rPr lang="en-US" altLang="zh-CN" sz="2400" dirty="0">
                <a:latin typeface="华文楷体" panose="02010600040101010101" pitchFamily="2" charset="-122"/>
                <a:ea typeface="华文楷体" panose="02010600040101010101" pitchFamily="2" charset="-122"/>
              </a:rPr>
              <a:t>6Tushare</a:t>
            </a:r>
            <a:r>
              <a:rPr lang="zh-CN" altLang="en-US" sz="2400" dirty="0">
                <a:latin typeface="华文楷体" panose="02010600040101010101" pitchFamily="2" charset="-122"/>
                <a:ea typeface="华文楷体" panose="02010600040101010101" pitchFamily="2" charset="-122"/>
              </a:rPr>
              <a:t>批量查询金融资产基准日价格</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73671756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资产基础法</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非货币类科目</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房产、土地、车辆和设备可使用</a:t>
            </a:r>
            <a:r>
              <a:rPr lang="en-US" altLang="zh-CN" sz="2400" dirty="0">
                <a:latin typeface="华文楷体" panose="02010600040101010101" pitchFamily="2" charset="-122"/>
                <a:ea typeface="华文楷体" panose="02010600040101010101" pitchFamily="2" charset="-122"/>
              </a:rPr>
              <a:t>Selenium</a:t>
            </a:r>
            <a:r>
              <a:rPr lang="zh-CN" altLang="en-US" sz="2400" dirty="0">
                <a:latin typeface="华文楷体" panose="02010600040101010101" pitchFamily="2" charset="-122"/>
                <a:ea typeface="华文楷体" panose="02010600040101010101" pitchFamily="2" charset="-122"/>
              </a:rPr>
              <a:t>库批量查询对应网站相关市场价格</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房产</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房天下、链家</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土地</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中国土地市场网</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车辆</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新浪二手车、瓜子二手车</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设备</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淘宝、京东，阿里巴巴</a:t>
            </a:r>
            <a:r>
              <a:rPr lang="en-US" altLang="zh-CN" sz="2400" dirty="0">
                <a:latin typeface="华文楷体" panose="02010600040101010101" pitchFamily="2" charset="-122"/>
                <a:ea typeface="华文楷体" panose="02010600040101010101" pitchFamily="2" charset="-122"/>
              </a:rPr>
              <a:t>1688</a:t>
            </a:r>
            <a:r>
              <a:rPr lang="zh-CN" altLang="en-US" sz="2400" dirty="0">
                <a:latin typeface="华文楷体" panose="02010600040101010101" pitchFamily="2" charset="-122"/>
                <a:ea typeface="华文楷体" panose="02010600040101010101" pitchFamily="2" charset="-122"/>
              </a:rPr>
              <a:t>等</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其中部分网站需要登陆，可以在模拟浏览器生成前用</a:t>
            </a:r>
            <a:r>
              <a:rPr lang="en-US" altLang="zh-CN" sz="2400" dirty="0">
                <a:latin typeface="华文楷体" panose="02010600040101010101" pitchFamily="2" charset="-122"/>
                <a:ea typeface="华文楷体" panose="02010600040101010101" pitchFamily="2" charset="-122"/>
              </a:rPr>
              <a:t>time</a:t>
            </a:r>
            <a:r>
              <a:rPr lang="zh-CN" altLang="en-US" sz="2400" dirty="0">
                <a:latin typeface="华文楷体" panose="02010600040101010101" pitchFamily="2" charset="-122"/>
                <a:ea typeface="华文楷体" panose="02010600040101010101" pitchFamily="2" charset="-122"/>
              </a:rPr>
              <a:t>库预留等待时间，手动登陆后查询。</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部分网站有对应资产的价格计算器，也可以直接进行使用</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26601105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617226-9F5C-45E4-B262-CCBFE1B69021}"/>
              </a:ext>
            </a:extLst>
          </p:cNvPr>
          <p:cNvSpPr>
            <a:spLocks noGrp="1"/>
          </p:cNvSpPr>
          <p:nvPr>
            <p:ph type="title"/>
          </p:nvPr>
        </p:nvSpPr>
        <p:spPr/>
        <p:txBody>
          <a:bodyPr/>
          <a:lstStyle/>
          <a:p>
            <a:r>
              <a:rPr lang="zh-CN" altLang="en-US" dirty="0">
                <a:latin typeface="华文楷体" panose="02010600040101010101" pitchFamily="2" charset="-122"/>
                <a:ea typeface="华文楷体" panose="02010600040101010101" pitchFamily="2" charset="-122"/>
              </a:rPr>
              <a:t>智能估值概述</a:t>
            </a:r>
            <a:r>
              <a:rPr lang="en-US" altLang="zh-CN" dirty="0">
                <a:latin typeface="华文楷体" panose="02010600040101010101" pitchFamily="2" charset="-122"/>
                <a:ea typeface="华文楷体" panose="02010600040101010101" pitchFamily="2" charset="-122"/>
              </a:rPr>
              <a:t>-</a:t>
            </a:r>
            <a:r>
              <a:rPr lang="zh-CN" altLang="en-US" dirty="0">
                <a:latin typeface="华文楷体" panose="02010600040101010101" pitchFamily="2" charset="-122"/>
                <a:ea typeface="华文楷体" panose="02010600040101010101" pitchFamily="2" charset="-122"/>
              </a:rPr>
              <a:t>分析计算部分</a:t>
            </a:r>
          </a:p>
        </p:txBody>
      </p:sp>
      <p:sp>
        <p:nvSpPr>
          <p:cNvPr id="3" name="内容占位符 2"/>
          <p:cNvSpPr>
            <a:spLocks noGrp="1"/>
          </p:cNvSpPr>
          <p:nvPr>
            <p:ph idx="1"/>
          </p:nvPr>
        </p:nvSpPr>
        <p:spPr>
          <a:xfrm>
            <a:off x="838200" y="1825625"/>
            <a:ext cx="10515600" cy="4667250"/>
          </a:xfrm>
        </p:spPr>
        <p:txBody>
          <a:bodyPr anchor="t">
            <a:noAutofit/>
          </a:bodyPr>
          <a:lstStyle/>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确定智能估值思路</a:t>
            </a:r>
            <a:r>
              <a:rPr lang="en-US" altLang="zh-CN" sz="2400" dirty="0">
                <a:latin typeface="华文楷体" panose="02010600040101010101" pitchFamily="2" charset="-122"/>
                <a:ea typeface="华文楷体" panose="02010600040101010101" pitchFamily="2" charset="-122"/>
              </a:rPr>
              <a:t>-</a:t>
            </a:r>
            <a:r>
              <a:rPr lang="zh-CN" altLang="en-US" sz="2400" dirty="0">
                <a:latin typeface="华文楷体" panose="02010600040101010101" pitchFamily="2" charset="-122"/>
                <a:ea typeface="华文楷体" panose="02010600040101010101" pitchFamily="2" charset="-122"/>
              </a:rPr>
              <a:t>市场法</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梳理评估公司常用市场法测算模型并建立思路</a:t>
            </a:r>
            <a:endParaRPr lang="en-US" altLang="zh-CN" sz="2400" dirty="0">
              <a:latin typeface="华文楷体" panose="02010600040101010101" pitchFamily="2" charset="-122"/>
              <a:ea typeface="华文楷体" panose="02010600040101010101" pitchFamily="2" charset="-122"/>
            </a:endParaRPr>
          </a:p>
          <a:p>
            <a:pPr marL="0" indent="0">
              <a:lnSpc>
                <a:spcPct val="100000"/>
              </a:lnSpc>
              <a:spcBef>
                <a:spcPts val="600"/>
              </a:spcBef>
              <a:spcAft>
                <a:spcPts val="600"/>
              </a:spcAft>
              <a:buNone/>
            </a:pPr>
            <a:r>
              <a:rPr lang="zh-CN" altLang="en-US" sz="2400" dirty="0">
                <a:latin typeface="华文楷体" panose="02010600040101010101" pitchFamily="2" charset="-122"/>
                <a:ea typeface="华文楷体" panose="02010600040101010101" pitchFamily="2" charset="-122"/>
              </a:rPr>
              <a:t>市场法汇总</a:t>
            </a:r>
            <a:r>
              <a:rPr lang="en-US" altLang="zh-CN" sz="2400" dirty="0">
                <a:latin typeface="华文楷体" panose="02010600040101010101" pitchFamily="2" charset="-122"/>
                <a:ea typeface="华文楷体" panose="02010600040101010101" pitchFamily="2" charset="-122"/>
              </a:rPr>
              <a:t>.docx</a:t>
            </a:r>
          </a:p>
          <a:p>
            <a:pPr marL="0" indent="0">
              <a:lnSpc>
                <a:spcPct val="100000"/>
              </a:lnSpc>
              <a:spcBef>
                <a:spcPts val="600"/>
              </a:spcBef>
              <a:spcAft>
                <a:spcPts val="600"/>
              </a:spcAft>
              <a:buNone/>
            </a:pPr>
            <a:endParaRPr lang="en-US" altLang="zh-CN" sz="2400" dirty="0">
              <a:latin typeface="华文楷体" panose="02010600040101010101" pitchFamily="2" charset="-122"/>
              <a:ea typeface="华文楷体" panose="02010600040101010101" pitchFamily="2" charset="-122"/>
            </a:endParaRPr>
          </a:p>
        </p:txBody>
      </p:sp>
    </p:spTree>
    <p:extLst>
      <p:ext uri="{BB962C8B-B14F-4D97-AF65-F5344CB8AC3E}">
        <p14:creationId xmlns:p14="http://schemas.microsoft.com/office/powerpoint/2010/main" val="4019185613"/>
      </p:ext>
    </p:extLst>
  </p:cSld>
  <p:clrMapOvr>
    <a:masterClrMapping/>
  </p:clrMapOvr>
</p:sld>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7404</TotalTime>
  <Words>2798</Words>
  <Application>Microsoft Office PowerPoint</Application>
  <PresentationFormat>宽屏</PresentationFormat>
  <Paragraphs>283</Paragraphs>
  <Slides>60</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60</vt:i4>
      </vt:variant>
    </vt:vector>
  </HeadingPairs>
  <TitlesOfParts>
    <vt:vector size="69" baseType="lpstr">
      <vt:lpstr>Biaodian Pro Sans GB</vt:lpstr>
      <vt:lpstr>Helvetica Neue</vt:lpstr>
      <vt:lpstr>等线</vt:lpstr>
      <vt:lpstr>等线 Light</vt:lpstr>
      <vt:lpstr>华文楷体</vt:lpstr>
      <vt:lpstr>楷体</vt:lpstr>
      <vt:lpstr>Arial</vt:lpstr>
      <vt:lpstr>Georgia</vt:lpstr>
      <vt:lpstr>1_Office 主题​​</vt:lpstr>
      <vt:lpstr>智能估值专题</vt:lpstr>
      <vt:lpstr>主讲人介绍</vt:lpstr>
      <vt:lpstr>课程安排 </vt:lpstr>
      <vt:lpstr>我与智能估值</vt:lpstr>
      <vt:lpstr>我与智能估值</vt:lpstr>
      <vt:lpstr>我与智能估值</vt:lpstr>
      <vt:lpstr>我与智能估值</vt:lpstr>
      <vt:lpstr>我与智能估值</vt:lpstr>
      <vt:lpstr>我与智能估值</vt:lpstr>
      <vt:lpstr>我与智能估值</vt:lpstr>
      <vt:lpstr>我与智能估值</vt:lpstr>
      <vt:lpstr>我与智能估值</vt:lpstr>
      <vt:lpstr>我与智能估值</vt:lpstr>
      <vt:lpstr>我与智能估值</vt:lpstr>
      <vt:lpstr>我与智能估值</vt:lpstr>
      <vt:lpstr>我与智能估值</vt:lpstr>
      <vt:lpstr>我与智能估值</vt:lpstr>
      <vt:lpstr>课程拟访谈专家 </vt:lpstr>
      <vt:lpstr>课程拟访谈专家 </vt:lpstr>
      <vt:lpstr>课程拟访谈专家 </vt:lpstr>
      <vt:lpstr>课程拟访谈专家 </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vt:lpstr>
      <vt:lpstr>智能估值概述-取数部分</vt:lpstr>
      <vt:lpstr>智能估值概述-取数部分</vt:lpstr>
      <vt:lpstr>智能估值概述</vt:lpstr>
      <vt:lpstr>智能估值概述</vt:lpstr>
      <vt:lpstr>智能估值概述-取数部分</vt:lpstr>
      <vt:lpstr>智能估值概述-取数部分</vt:lpstr>
      <vt:lpstr>智能估值概述-取数部分</vt:lpstr>
      <vt:lpstr>智能估值概述-取数部分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lpstr>智能估值概述-分析计算部分</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专利资产评估及案例讲解</dc:title>
  <dc:creator>sws</dc:creator>
  <cp:lastModifiedBy>Shao Weishi</cp:lastModifiedBy>
  <cp:revision>228</cp:revision>
  <dcterms:created xsi:type="dcterms:W3CDTF">2017-10-27T01:49:00Z</dcterms:created>
  <dcterms:modified xsi:type="dcterms:W3CDTF">2022-02-25T05:03:47Z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2052-11.1.0.9912</vt:lpwstr>
  </property>
</Properties>
</file>